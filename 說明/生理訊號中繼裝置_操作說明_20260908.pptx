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63" r:id="rId16"/>
    <p:sldId id="280" r:id="rId17"/>
    <p:sldId id="281" r:id="rId18"/>
    <p:sldId id="282" r:id="rId19"/>
    <p:sldId id="283" r:id="rId20"/>
    <p:sldId id="284" r:id="rId21"/>
    <p:sldId id="273" r:id="rId22"/>
    <p:sldId id="274" r:id="rId23"/>
    <p:sldId id="275" r:id="rId24"/>
    <p:sldId id="276" r:id="rId25"/>
    <p:sldId id="277" r:id="rId26"/>
    <p:sldId id="278" r:id="rId27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E2"/>
    <a:srgbClr val="00B2B3"/>
    <a:srgbClr val="5FB990"/>
    <a:srgbClr val="87CAAC"/>
    <a:srgbClr val="12B3C4"/>
    <a:srgbClr val="FF6600"/>
    <a:srgbClr val="FF0000"/>
    <a:srgbClr val="28AECF"/>
    <a:srgbClr val="13C3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3088" autoAdjust="0"/>
    <p:restoredTop sz="94660"/>
  </p:normalViewPr>
  <p:slideViewPr>
    <p:cSldViewPr snapToGrid="0">
      <p:cViewPr varScale="1">
        <p:scale>
          <a:sx n="63" d="100"/>
          <a:sy n="63" d="100"/>
        </p:scale>
        <p:origin x="60" y="11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98" d="100"/>
          <a:sy n="98" d="100"/>
        </p:scale>
        <p:origin x="-3648" y="-102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87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87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6650701-39C2-4C39-B774-AC0ACA9B57F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115972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35D6E0B5-C9D1-4321-9F3E-3F5A2FCA6E31}" type="datetimeFigureOut">
              <a:rPr lang="zh-TW" altLang="en-US"/>
              <a:pPr>
                <a:defRPr/>
              </a:pPr>
              <a:t>2026/9/22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96D86CCB-8F76-4AE6-907E-95309338C67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3689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7"/>
          <p:cNvSpPr>
            <a:spLocks noChangeArrowheads="1"/>
          </p:cNvSpPr>
          <p:nvPr userDrawn="1"/>
        </p:nvSpPr>
        <p:spPr bwMode="auto">
          <a:xfrm>
            <a:off x="0" y="6618288"/>
            <a:ext cx="9144000" cy="239712"/>
          </a:xfrm>
          <a:prstGeom prst="rect">
            <a:avLst/>
          </a:prstGeom>
          <a:solidFill>
            <a:srgbClr val="009F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30741" name="Rectangle 2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546140" y="2584703"/>
            <a:ext cx="6596065" cy="1219201"/>
          </a:xfrm>
        </p:spPr>
        <p:txBody>
          <a:bodyPr anchor="t" anchorCtr="0"/>
          <a:lstStyle>
            <a:lvl1pPr>
              <a:defRPr sz="4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簡報標題</a:t>
            </a:r>
          </a:p>
        </p:txBody>
      </p:sp>
      <p:sp>
        <p:nvSpPr>
          <p:cNvPr id="30742" name="Rectangle 22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46141" y="5059680"/>
            <a:ext cx="6770872" cy="755904"/>
          </a:xfrm>
        </p:spPr>
        <p:txBody>
          <a:bodyPr anchor="b" anchorCtr="0"/>
          <a:lstStyle>
            <a:lvl1pPr marL="0" indent="0" eaLnBrk="1" hangingPunct="1">
              <a:lnSpc>
                <a:spcPct val="80000"/>
              </a:lnSpc>
              <a:spcBef>
                <a:spcPct val="0"/>
              </a:spcBef>
              <a:buFontTx/>
              <a:buNone/>
              <a:defRPr sz="20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zh-TW" altLang="en-US" sz="2000" dirty="0"/>
              <a:t>簡報單位 簡報人名稱</a:t>
            </a:r>
            <a:r>
              <a:rPr lang="en-US" altLang="zh-TW" sz="2000" dirty="0"/>
              <a:t> </a:t>
            </a:r>
            <a:r>
              <a:rPr lang="zh-TW" altLang="en-US" sz="2000" dirty="0"/>
              <a:t>職稱</a:t>
            </a:r>
            <a:endParaRPr lang="en-US" altLang="zh-TW" sz="2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9" name="文字版面配置區 8"/>
          <p:cNvSpPr>
            <a:spLocks noGrp="1"/>
          </p:cNvSpPr>
          <p:nvPr>
            <p:ph type="body" sz="quarter" idx="12" hasCustomPrompt="1"/>
          </p:nvPr>
        </p:nvSpPr>
        <p:spPr>
          <a:xfrm>
            <a:off x="546140" y="5902262"/>
            <a:ext cx="2788603" cy="432303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zh-TW" altLang="en-US" dirty="0"/>
              <a:t>簡報日期</a:t>
            </a:r>
          </a:p>
        </p:txBody>
      </p:sp>
      <p:pic>
        <p:nvPicPr>
          <p:cNvPr id="12" name="Picture 28" descr="itri_CEL_A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27" y="354013"/>
            <a:ext cx="2652713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48"/>
          <p:cNvSpPr txBox="1">
            <a:spLocks noChangeArrowheads="1"/>
          </p:cNvSpPr>
          <p:nvPr userDrawn="1"/>
        </p:nvSpPr>
        <p:spPr bwMode="auto">
          <a:xfrm>
            <a:off x="-1" y="6616092"/>
            <a:ext cx="356716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l" eaLnBrk="1" hangingPunct="1">
              <a:defRPr/>
            </a:pPr>
            <a:r>
              <a:rPr lang="en-US" altLang="zh-TW" sz="1000" dirty="0">
                <a:solidFill>
                  <a:schemeClr val="bg1"/>
                </a:solidFill>
                <a:ea typeface="微軟正黑體" panose="020B0604030504040204" pitchFamily="34" charset="-120"/>
              </a:rPr>
              <a:t>©</a:t>
            </a:r>
            <a:r>
              <a:rPr lang="zh-TW" altLang="en-US" sz="1000" dirty="0">
                <a:solidFill>
                  <a:schemeClr val="bg1"/>
                </a:solidFill>
                <a:ea typeface="微軟正黑體" panose="020B0604030504040204" pitchFamily="34" charset="-120"/>
              </a:rPr>
              <a:t>工業技術研究院  權利所有。</a:t>
            </a:r>
          </a:p>
        </p:txBody>
      </p:sp>
    </p:spTree>
    <p:extLst>
      <p:ext uri="{BB962C8B-B14F-4D97-AF65-F5344CB8AC3E}">
        <p14:creationId xmlns:p14="http://schemas.microsoft.com/office/powerpoint/2010/main" val="2733254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40782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39863"/>
            <a:ext cx="6126480" cy="4757737"/>
          </a:xfrm>
        </p:spPr>
        <p:txBody>
          <a:bodyPr/>
          <a:lstStyle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5" name="圖片版面配置區 2"/>
          <p:cNvSpPr>
            <a:spLocks noGrp="1"/>
          </p:cNvSpPr>
          <p:nvPr>
            <p:ph type="pic" idx="11"/>
          </p:nvPr>
        </p:nvSpPr>
        <p:spPr>
          <a:xfrm>
            <a:off x="6721574" y="1439863"/>
            <a:ext cx="2098576" cy="47577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16971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39863"/>
            <a:ext cx="8360228" cy="3184388"/>
          </a:xfrm>
        </p:spPr>
        <p:txBody>
          <a:bodyPr/>
          <a:lstStyle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450849" y="316992"/>
            <a:ext cx="8366579" cy="88950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6" name="圖片版面配置區 2"/>
          <p:cNvSpPr>
            <a:spLocks noGrp="1"/>
          </p:cNvSpPr>
          <p:nvPr>
            <p:ph type="pic" idx="11"/>
          </p:nvPr>
        </p:nvSpPr>
        <p:spPr>
          <a:xfrm>
            <a:off x="457200" y="4725145"/>
            <a:ext cx="8360228" cy="158417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3311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ctrTitle"/>
          </p:nvPr>
        </p:nvSpPr>
        <p:spPr>
          <a:xfrm>
            <a:off x="685800" y="2564904"/>
            <a:ext cx="7772400" cy="1035546"/>
          </a:xfrm>
        </p:spPr>
        <p:txBody>
          <a:bodyPr anchor="t" anchorCtr="0">
            <a:noAutofit/>
          </a:bodyPr>
          <a:lstStyle>
            <a:lvl1pPr algn="ctr"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0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66617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9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7612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542733"/>
            <a:ext cx="4105275" cy="47577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14875" y="1542733"/>
            <a:ext cx="4106863" cy="47577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85454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9" name="投影片編號版面配置區 1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20" name="Rectangle 43"/>
          <p:cNvSpPr>
            <a:spLocks noGrp="1" noChangeArrowheads="1"/>
          </p:cNvSpPr>
          <p:nvPr>
            <p:ph type="title"/>
          </p:nvPr>
        </p:nvSpPr>
        <p:spPr bwMode="auto">
          <a:xfrm>
            <a:off x="450850" y="316992"/>
            <a:ext cx="8369300" cy="889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200109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4" name="標題 7"/>
          <p:cNvSpPr>
            <a:spLocks noGrp="1"/>
          </p:cNvSpPr>
          <p:nvPr>
            <p:ph type="title"/>
          </p:nvPr>
        </p:nvSpPr>
        <p:spPr>
          <a:xfrm>
            <a:off x="450850" y="316992"/>
            <a:ext cx="8369300" cy="88950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333720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25513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311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02855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5194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29413" y="313944"/>
            <a:ext cx="2092325" cy="5864352"/>
          </a:xfrm>
        </p:spPr>
        <p:txBody>
          <a:bodyPr vert="eaVert"/>
          <a:lstStyle>
            <a:lvl1pPr algn="ctr"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0850" y="313944"/>
            <a:ext cx="6126163" cy="5864352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65464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7"/>
          <p:cNvSpPr>
            <a:spLocks noChangeArrowheads="1"/>
          </p:cNvSpPr>
          <p:nvPr userDrawn="1"/>
        </p:nvSpPr>
        <p:spPr bwMode="auto">
          <a:xfrm>
            <a:off x="0" y="6618288"/>
            <a:ext cx="9144000" cy="239712"/>
          </a:xfrm>
          <a:prstGeom prst="rect">
            <a:avLst/>
          </a:prstGeom>
          <a:solidFill>
            <a:srgbClr val="009F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1027" name="Rectangle 43"/>
          <p:cNvSpPr>
            <a:spLocks noGrp="1" noChangeArrowheads="1"/>
          </p:cNvSpPr>
          <p:nvPr>
            <p:ph type="title"/>
          </p:nvPr>
        </p:nvSpPr>
        <p:spPr bwMode="auto">
          <a:xfrm>
            <a:off x="450850" y="316992"/>
            <a:ext cx="8369300" cy="889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4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39863"/>
            <a:ext cx="8364538" cy="475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9743" name="Rectangle 4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2500" y="6619875"/>
            <a:ext cx="5715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fontAlgn="ctr" hangingPunct="1">
              <a:defRPr sz="1200">
                <a:solidFill>
                  <a:schemeClr val="bg1"/>
                </a:solidFill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1A71FFAD-F905-4792-971B-681FA4F61CA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1032" name="Picture 49" descr="itri_CEL_A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3838" y="6278563"/>
            <a:ext cx="125095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48"/>
          <p:cNvSpPr txBox="1">
            <a:spLocks noChangeArrowheads="1"/>
          </p:cNvSpPr>
          <p:nvPr userDrawn="1"/>
        </p:nvSpPr>
        <p:spPr bwMode="auto">
          <a:xfrm>
            <a:off x="-1" y="6616092"/>
            <a:ext cx="356716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l" eaLnBrk="1" hangingPunct="1">
              <a:defRPr/>
            </a:pPr>
            <a:r>
              <a:rPr lang="en-US" altLang="zh-TW" sz="1000" dirty="0">
                <a:solidFill>
                  <a:schemeClr val="bg1"/>
                </a:solidFill>
                <a:ea typeface="微軟正黑體" panose="020B0604030504040204" pitchFamily="34" charset="-120"/>
              </a:rPr>
              <a:t>©</a:t>
            </a:r>
            <a:r>
              <a:rPr lang="zh-TW" altLang="en-US" sz="1000" dirty="0">
                <a:solidFill>
                  <a:schemeClr val="bg1"/>
                </a:solidFill>
                <a:ea typeface="微軟正黑體" panose="020B0604030504040204" pitchFamily="34" charset="-120"/>
              </a:rPr>
              <a:t>工業技術研究院  權利所有。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5" r:id="rId2"/>
    <p:sldLayoutId id="2147483916" r:id="rId3"/>
    <p:sldLayoutId id="2147483917" r:id="rId4"/>
    <p:sldLayoutId id="2147483903" r:id="rId5"/>
    <p:sldLayoutId id="2147483904" r:id="rId6"/>
    <p:sldLayoutId id="2147483905" r:id="rId7"/>
    <p:sldLayoutId id="2147483906" r:id="rId8"/>
    <p:sldLayoutId id="2147483908" r:id="rId9"/>
    <p:sldLayoutId id="2147483914" r:id="rId10"/>
    <p:sldLayoutId id="2147483909" r:id="rId11"/>
    <p:sldLayoutId id="2147483910" r:id="rId12"/>
    <p:sldLayoutId id="2147483911" r:id="rId13"/>
    <p:sldLayoutId id="2147483912" r:id="rId14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6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png"/><Relationship Id="rId6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png"/><Relationship Id="rId3" Type="http://schemas.microsoft.com/office/2007/relationships/hdphoto" Target="../media/hdphoto1.wdp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7.png"/><Relationship Id="rId3" Type="http://schemas.microsoft.com/office/2007/relationships/hdphoto" Target="../media/hdphoto2.wdp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8.png"/><Relationship Id="rId3" Type="http://schemas.microsoft.com/office/2007/relationships/hdphoto" Target="../media/hdphoto3.wdp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9.png"/><Relationship Id="rId3" Type="http://schemas.microsoft.com/office/2007/relationships/hdphoto" Target="../media/hdphoto4.wdp"/><Relationship Id="rId4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7.jpg"/><Relationship Id="rId3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2.png"/><Relationship Id="rId3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SmartGateway 操作說明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個案管理師／護理師版　完整操作手冊　｜　2026-08-31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目錄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977639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dirty="0" err="1">
                <a:solidFill>
                  <a:srgbClr val="0C8C80"/>
                </a:solidFill>
                <a:latin typeface="微軟正黑體"/>
                <a:ea typeface="微軟正黑體"/>
                <a:cs typeface="微軟正黑體"/>
              </a:rPr>
              <a:t>一、認識 SmartGateway</a:t>
            </a:r>
            <a:endParaRPr sz="1700" b="1" dirty="0">
              <a:solidFill>
                <a:srgbClr val="0C8C8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這台 SmartGateway 能做什麼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支援的量測醫材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SmartGateway 外觀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按鍵功能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1200"/>
              </a:spcAft>
            </a:pPr>
            <a:endParaRPr lang="zh-TW" altLang="en-US"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700" b="1" dirty="0" err="1">
                <a:solidFill>
                  <a:srgbClr val="0C8C80"/>
                </a:solidFill>
                <a:latin typeface="微軟正黑體"/>
                <a:ea typeface="微軟正黑體"/>
                <a:cs typeface="微軟正黑體"/>
              </a:rPr>
              <a:t>二、設定 SmartGateway</a:t>
            </a:r>
            <a:endParaRPr sz="1700" b="1" dirty="0">
              <a:solidFill>
                <a:srgbClr val="0C8C8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何時需要設定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設定五步驟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設定畫面與掃碼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設定表單欄位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12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取消設定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09160" y="1280160"/>
            <a:ext cx="397763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dirty="0" err="1">
                <a:solidFill>
                  <a:srgbClr val="0C8C80"/>
                </a:solidFill>
                <a:latin typeface="微軟正黑體"/>
                <a:ea typeface="微軟正黑體"/>
                <a:cs typeface="微軟正黑體"/>
              </a:rPr>
              <a:t>三、日常使用</a:t>
            </a:r>
            <a:endParaRPr sz="1700" b="1" dirty="0">
              <a:solidFill>
                <a:srgbClr val="0C8C8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全自動三步驟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螢幕四種畫面總覽</a:t>
            </a:r>
            <a:endParaRPr lang="en-US"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lang="zh-TW" altLang="en-US"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</a:t>
            </a:r>
            <a:r>
              <a:rPr lang="en-US" altLang="zh-TW"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–  </a:t>
            </a:r>
            <a:r>
              <a:rPr lang="zh-TW" altLang="en-US"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日常量測</a:t>
            </a:r>
          </a:p>
          <a:p>
            <a:pPr>
              <a:spcAft>
                <a:spcPts val="300"/>
              </a:spcAft>
            </a:pPr>
            <a:r>
              <a:rPr lang="zh-TW" altLang="en-US"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</a:t>
            </a:r>
            <a:r>
              <a:rPr lang="en-US" altLang="zh-TW"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–  </a:t>
            </a:r>
            <a:r>
              <a:rPr lang="zh-TW" altLang="en-US"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上傳畫面</a:t>
            </a:r>
          </a:p>
          <a:p>
            <a:pPr>
              <a:spcAft>
                <a:spcPts val="12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紀錄頁面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700" b="1" dirty="0" err="1">
                <a:solidFill>
                  <a:srgbClr val="0C8C80"/>
                </a:solidFill>
                <a:latin typeface="微軟正黑體"/>
                <a:ea typeface="微軟正黑體"/>
                <a:cs typeface="微軟正黑體"/>
              </a:rPr>
              <a:t>四、疑難排解</a:t>
            </a:r>
            <a:endParaRPr sz="1700" b="1" dirty="0">
              <a:solidFill>
                <a:srgbClr val="0C8C8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資料安全性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常見問題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12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何時聯絡技術人員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C8C80"/>
                </a:solidFill>
                <a:latin typeface="微軟正黑體"/>
                <a:ea typeface="微軟正黑體"/>
                <a:cs typeface="微軟正黑體"/>
              </a:rPr>
              <a:t>一　認識 SmartGateway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SmartGateway 長怎樣、按鍵跟螢幕代表什麼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buNone/>
            </a:pPr>
            <a:r>
              <a:rPr sz="20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</a:t>
            </a:r>
            <a:r>
              <a:rPr sz="20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量測數值自動上傳</a:t>
            </a:r>
            <a:endParaRPr sz="20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1600"/>
              </a:spcAft>
              <a:buNone/>
            </a:pPr>
            <a:r>
              <a:rPr sz="15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</a:t>
            </a:r>
            <a:r>
              <a:rPr sz="15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個案量血壓、血糖、血氧、體溫後，數值直接送到後端，不用手動抄寫</a:t>
            </a:r>
            <a:endParaRPr sz="15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400"/>
              </a:spcAft>
              <a:buNone/>
            </a:pPr>
            <a:r>
              <a:rPr sz="20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</a:t>
            </a:r>
            <a:r>
              <a:rPr sz="20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斷電不遺失資料</a:t>
            </a:r>
            <a:endParaRPr sz="20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1600"/>
              </a:spcAft>
              <a:buNone/>
            </a:pPr>
            <a:r>
              <a:rPr sz="15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</a:t>
            </a:r>
            <a:r>
              <a:rPr sz="15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沒上傳成功的資料會先存在</a:t>
            </a:r>
            <a:r>
              <a:rPr sz="15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5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SmartGateway</a:t>
            </a:r>
            <a:r>
              <a:rPr sz="15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5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裡，恢復供電後自動補傳</a:t>
            </a:r>
            <a:endParaRPr sz="15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400"/>
              </a:spcAft>
              <a:buNone/>
            </a:pPr>
            <a:r>
              <a:rPr sz="20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</a:t>
            </a:r>
            <a:r>
              <a:rPr sz="20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平時免操作</a:t>
            </a:r>
            <a:endParaRPr sz="20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1600"/>
              </a:spcAft>
              <a:buNone/>
            </a:pPr>
            <a:r>
              <a:rPr sz="15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</a:t>
            </a:r>
            <a:r>
              <a:rPr sz="15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只有「第一次安裝」或「換環境」才需要動手設定；血糖機</a:t>
            </a:r>
            <a:r>
              <a:rPr sz="15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GM700SB </a:t>
            </a:r>
            <a:r>
              <a:rPr sz="15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例外</a:t>
            </a:r>
            <a:r>
              <a:rPr sz="15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，</a:t>
            </a:r>
            <a:r>
              <a:rPr lang="zh-TW" altLang="en-US" sz="15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每天定時</a:t>
            </a:r>
            <a:r>
              <a:rPr lang="en-US" altLang="zh-TW" sz="15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150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需</a:t>
            </a:r>
            <a:r>
              <a:rPr sz="15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要</a:t>
            </a:r>
            <a:r>
              <a:rPr lang="zh-TW" altLang="en-US" sz="15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時</a:t>
            </a:r>
            <a:r>
              <a:rPr sz="15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按中鍵才會同步</a:t>
            </a:r>
            <a:endParaRPr sz="15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這台 SmartGateway 能做什麼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支援的量測醫材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34440"/>
            <a:ext cx="1463040" cy="4206240"/>
          </a:xfrm>
          <a:prstGeom prst="roundRect">
            <a:avLst>
              <a:gd name="adj" fmla="val 8000"/>
            </a:avLst>
          </a:prstGeom>
          <a:solidFill>
            <a:srgbClr val="F4F8F9"/>
          </a:solidFill>
          <a:ln w="25400">
            <a:solidFill>
              <a:srgbClr val="3C8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evice_ir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03" y="1708785"/>
            <a:ext cx="1250234" cy="12502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749040"/>
            <a:ext cx="132116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C8F6B"/>
                </a:solidFill>
                <a:latin typeface="微軟正黑體"/>
                <a:ea typeface="微軟正黑體"/>
                <a:cs typeface="微軟正黑體"/>
              </a:rPr>
              <a:t>FORA IR42</a:t>
            </a:r>
          </a:p>
          <a:p>
            <a:pPr algn="ctr"/>
            <a:r>
              <a:rPr sz="11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額溫槍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132116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體溫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1234440"/>
            <a:ext cx="1463040" cy="4206240"/>
          </a:xfrm>
          <a:prstGeom prst="roundRect">
            <a:avLst>
              <a:gd name="adj" fmla="val 8000"/>
            </a:avLst>
          </a:prstGeom>
          <a:solidFill>
            <a:srgbClr val="F4F8F9"/>
          </a:solidFill>
          <a:ln w="25400">
            <a:solidFill>
              <a:srgbClr val="2E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evice_o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243" y="1708785"/>
            <a:ext cx="1250234" cy="12502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40280" y="3749040"/>
            <a:ext cx="132116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FA8"/>
                </a:solidFill>
                <a:latin typeface="微軟正黑體"/>
                <a:ea typeface="微軟正黑體"/>
                <a:cs typeface="微軟正黑體"/>
              </a:rPr>
              <a:t>FORA O2</a:t>
            </a:r>
          </a:p>
          <a:p>
            <a:pPr algn="ctr"/>
            <a:r>
              <a:rPr sz="11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血氧計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4480560"/>
            <a:ext cx="132116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血氧 SpO2／脈搏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1234440"/>
            <a:ext cx="1463040" cy="4206240"/>
          </a:xfrm>
          <a:prstGeom prst="roundRect">
            <a:avLst>
              <a:gd name="adj" fmla="val 8000"/>
            </a:avLst>
          </a:prstGeom>
          <a:solidFill>
            <a:srgbClr val="F4F8F9"/>
          </a:solidFill>
          <a:ln w="2540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device_d4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6883" y="1708785"/>
            <a:ext cx="1250234" cy="125023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31920" y="3749040"/>
            <a:ext cx="132116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83B"/>
                </a:solidFill>
                <a:latin typeface="微軟正黑體"/>
                <a:ea typeface="微軟正黑體"/>
                <a:cs typeface="微軟正黑體"/>
              </a:rPr>
              <a:t>FORA D40</a:t>
            </a:r>
          </a:p>
          <a:p>
            <a:pPr algn="ctr"/>
            <a:r>
              <a:rPr sz="11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血壓血糖二合一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480560"/>
            <a:ext cx="132116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血壓／脈搏／血糖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1234440"/>
            <a:ext cx="1463040" cy="4206240"/>
          </a:xfrm>
          <a:prstGeom prst="roundRect">
            <a:avLst>
              <a:gd name="adj" fmla="val 8000"/>
            </a:avLst>
          </a:prstGeom>
          <a:solidFill>
            <a:srgbClr val="F4F8F9"/>
          </a:solidFill>
          <a:ln w="25400">
            <a:solidFill>
              <a:srgbClr val="8A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device_md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0295" y="1371600"/>
            <a:ext cx="886690" cy="177338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23560" y="3749040"/>
            <a:ext cx="132116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A5FB0"/>
                </a:solidFill>
                <a:latin typeface="微軟正黑體"/>
                <a:ea typeface="微軟正黑體"/>
                <a:cs typeface="微軟正黑體"/>
              </a:rPr>
              <a:t>FORA MD6</a:t>
            </a:r>
          </a:p>
          <a:p>
            <a:pPr algn="ctr"/>
            <a:r>
              <a:rPr sz="11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六合一測試儀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4480560"/>
            <a:ext cx="132116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血糖／HCT／酮體
尿酸／膽固醇／血紅素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234440"/>
            <a:ext cx="1463040" cy="420624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3445" y="1371600"/>
            <a:ext cx="1243669" cy="17733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0" y="374904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6F78"/>
                </a:solidFill>
                <a:latin typeface="微軟正黑體"/>
                <a:ea typeface="微軟正黑體"/>
                <a:cs typeface="微軟正黑體"/>
              </a:rPr>
              <a:t>RIGHTEST GM700SB</a:t>
            </a:r>
          </a:p>
          <a:p>
            <a:pPr algn="ctr"/>
            <a:r>
              <a:rPr sz="11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血糖機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805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血糖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SmartGateway 外觀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sz="15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螢幕在正面</a:t>
            </a:r>
          </a:p>
          <a:p>
            <a:pPr>
              <a:spcAft>
                <a:spcPts val="600"/>
              </a:spcAft>
              <a:buNone/>
            </a:pPr>
            <a:r>
              <a:rPr sz="12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個案編號、目前狀態、各項最新讀值</a:t>
            </a:r>
          </a:p>
          <a:p>
            <a:pPr>
              <a:spcAft>
                <a:spcPts val="400"/>
              </a:spcAft>
              <a:buNone/>
            </a:pPr>
            <a:r>
              <a:rPr sz="15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三顆按鍵在頂面</a:t>
            </a:r>
          </a:p>
          <a:p>
            <a:pPr>
              <a:spcAft>
                <a:spcPts val="600"/>
              </a:spcAft>
              <a:buNone/>
            </a:pPr>
            <a:r>
              <a:rPr sz="12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左／中／右，日常操作只會用到這三顆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1" y="2164264"/>
            <a:ext cx="3931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34349"/>
                </a:solidFill>
                <a:latin typeface="微軟正黑體"/>
                <a:ea typeface="微軟正黑體"/>
                <a:cs typeface="微軟正黑體"/>
              </a:rPr>
              <a:t>頂面：三顆按鍵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1" y="4568843"/>
            <a:ext cx="3931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 err="1">
                <a:solidFill>
                  <a:srgbClr val="134349"/>
                </a:solidFill>
                <a:latin typeface="微軟正黑體"/>
                <a:ea typeface="微軟正黑體"/>
                <a:cs typeface="微軟正黑體"/>
              </a:rPr>
              <a:t>正面：螢幕</a:t>
            </a:r>
            <a:endParaRPr sz="1300" b="1" dirty="0">
              <a:solidFill>
                <a:srgbClr val="134349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0" name="Rounded Rectangle 2">
            <a:extLst>
              <a:ext uri="{FF2B5EF4-FFF2-40B4-BE49-F238E27FC236}">
                <a16:creationId xmlns:a16="http://schemas.microsoft.com/office/drawing/2014/main" id="{BEA2416B-F609-7DBB-05B0-27516AA9CF75}"/>
              </a:ext>
            </a:extLst>
          </p:cNvPr>
          <p:cNvSpPr/>
          <p:nvPr/>
        </p:nvSpPr>
        <p:spPr>
          <a:xfrm>
            <a:off x="4803354" y="2495247"/>
            <a:ext cx="1280945" cy="1943297"/>
          </a:xfrm>
          <a:prstGeom prst="roundRect">
            <a:avLst>
              <a:gd name="adj" fmla="val 12000"/>
            </a:avLst>
          </a:prstGeom>
          <a:solidFill>
            <a:srgbClr val="F4F8F9"/>
          </a:solidFill>
          <a:ln w="2540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3">
            <a:extLst>
              <a:ext uri="{FF2B5EF4-FFF2-40B4-BE49-F238E27FC236}">
                <a16:creationId xmlns:a16="http://schemas.microsoft.com/office/drawing/2014/main" id="{45E5C034-B2F3-5D1E-0BFF-85E89BBC66FE}"/>
              </a:ext>
            </a:extLst>
          </p:cNvPr>
          <p:cNvSpPr/>
          <p:nvPr/>
        </p:nvSpPr>
        <p:spPr>
          <a:xfrm>
            <a:off x="5194881" y="2013547"/>
            <a:ext cx="446279" cy="418292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左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5517C1C9-618A-E5FD-5470-FEFD2869ED07}"/>
              </a:ext>
            </a:extLst>
          </p:cNvPr>
          <p:cNvSpPr txBox="1"/>
          <p:nvPr/>
        </p:nvSpPr>
        <p:spPr>
          <a:xfrm>
            <a:off x="4860306" y="2771490"/>
            <a:ext cx="1169558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長按</a:t>
            </a:r>
            <a:r>
              <a:rPr sz="13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3 秒</a:t>
            </a:r>
            <a:r>
              <a:rPr lang="zh-TW" altLang="en-US" sz="13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到畫面變化</a:t>
            </a:r>
            <a:endParaRPr sz="13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3" name="TextBox 5">
            <a:extLst>
              <a:ext uri="{FF2B5EF4-FFF2-40B4-BE49-F238E27FC236}">
                <a16:creationId xmlns:a16="http://schemas.microsoft.com/office/drawing/2014/main" id="{F2A9A5D4-2588-8F94-8FB2-946D412EE92C}"/>
              </a:ext>
            </a:extLst>
          </p:cNvPr>
          <p:cNvSpPr txBox="1"/>
          <p:nvPr/>
        </p:nvSpPr>
        <p:spPr>
          <a:xfrm>
            <a:off x="4860306" y="3252723"/>
            <a:ext cx="116955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進入設定模式</a:t>
            </a:r>
            <a:endParaRPr sz="105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909B4EAD-C8A7-2014-E947-592492A4F9B6}"/>
              </a:ext>
            </a:extLst>
          </p:cNvPr>
          <p:cNvSpPr/>
          <p:nvPr/>
        </p:nvSpPr>
        <p:spPr>
          <a:xfrm>
            <a:off x="6186142" y="2483010"/>
            <a:ext cx="1280945" cy="1955534"/>
          </a:xfrm>
          <a:prstGeom prst="roundRect">
            <a:avLst>
              <a:gd name="adj" fmla="val 12000"/>
            </a:avLst>
          </a:prstGeom>
          <a:solidFill>
            <a:srgbClr val="F4F8F9"/>
          </a:solidFill>
          <a:ln w="2540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7">
            <a:extLst>
              <a:ext uri="{FF2B5EF4-FFF2-40B4-BE49-F238E27FC236}">
                <a16:creationId xmlns:a16="http://schemas.microsoft.com/office/drawing/2014/main" id="{A18941EF-9E77-9CE9-73F3-76DD533864BA}"/>
              </a:ext>
            </a:extLst>
          </p:cNvPr>
          <p:cNvSpPr/>
          <p:nvPr/>
        </p:nvSpPr>
        <p:spPr>
          <a:xfrm>
            <a:off x="6611542" y="2000526"/>
            <a:ext cx="446279" cy="418292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中</a:t>
            </a: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EC5799B8-8D24-B3FB-EDCA-DBE48F5CD9BD}"/>
              </a:ext>
            </a:extLst>
          </p:cNvPr>
          <p:cNvSpPr txBox="1"/>
          <p:nvPr/>
        </p:nvSpPr>
        <p:spPr>
          <a:xfrm>
            <a:off x="6186143" y="3579592"/>
            <a:ext cx="1169558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短按</a:t>
            </a:r>
            <a:endParaRPr sz="13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31B0A3A5-A50D-DBC9-D000-C5C5C896D9D1}"/>
              </a:ext>
            </a:extLst>
          </p:cNvPr>
          <p:cNvSpPr txBox="1"/>
          <p:nvPr/>
        </p:nvSpPr>
        <p:spPr>
          <a:xfrm>
            <a:off x="6186143" y="3931980"/>
            <a:ext cx="116955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TW" altLang="en-US" sz="10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接收</a:t>
            </a:r>
            <a:r>
              <a:rPr sz="10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GM700SB</a:t>
            </a:r>
          </a:p>
        </p:txBody>
      </p:sp>
      <p:sp>
        <p:nvSpPr>
          <p:cNvPr id="28" name="Rounded Rectangle 10">
            <a:extLst>
              <a:ext uri="{FF2B5EF4-FFF2-40B4-BE49-F238E27FC236}">
                <a16:creationId xmlns:a16="http://schemas.microsoft.com/office/drawing/2014/main" id="{8FE1B335-DA43-60EE-3BF6-791500E45860}"/>
              </a:ext>
            </a:extLst>
          </p:cNvPr>
          <p:cNvSpPr/>
          <p:nvPr/>
        </p:nvSpPr>
        <p:spPr>
          <a:xfrm>
            <a:off x="7568930" y="2481611"/>
            <a:ext cx="1280945" cy="2005537"/>
          </a:xfrm>
          <a:prstGeom prst="roundRect">
            <a:avLst>
              <a:gd name="adj" fmla="val 12000"/>
            </a:avLst>
          </a:prstGeom>
          <a:solidFill>
            <a:srgbClr val="F4F8F9"/>
          </a:solidFill>
          <a:ln w="25400">
            <a:solidFill>
              <a:srgbClr val="3C8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11">
            <a:extLst>
              <a:ext uri="{FF2B5EF4-FFF2-40B4-BE49-F238E27FC236}">
                <a16:creationId xmlns:a16="http://schemas.microsoft.com/office/drawing/2014/main" id="{7A93E18C-BB43-5CC0-3F6D-41F9FF74E779}"/>
              </a:ext>
            </a:extLst>
          </p:cNvPr>
          <p:cNvSpPr/>
          <p:nvPr/>
        </p:nvSpPr>
        <p:spPr>
          <a:xfrm>
            <a:off x="8028203" y="2000526"/>
            <a:ext cx="446279" cy="418292"/>
          </a:xfrm>
          <a:prstGeom prst="ellipse">
            <a:avLst/>
          </a:prstGeom>
          <a:solidFill>
            <a:srgbClr val="3C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右</a:t>
            </a:r>
          </a:p>
        </p:txBody>
      </p:sp>
      <p:sp>
        <p:nvSpPr>
          <p:cNvPr id="30" name="TextBox 12">
            <a:extLst>
              <a:ext uri="{FF2B5EF4-FFF2-40B4-BE49-F238E27FC236}">
                <a16:creationId xmlns:a16="http://schemas.microsoft.com/office/drawing/2014/main" id="{998B16A3-FE01-C370-7AA0-F82380D8626E}"/>
              </a:ext>
            </a:extLst>
          </p:cNvPr>
          <p:cNvSpPr txBox="1"/>
          <p:nvPr/>
        </p:nvSpPr>
        <p:spPr>
          <a:xfrm>
            <a:off x="7616698" y="3606887"/>
            <a:ext cx="1169558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TW" altLang="en-US" sz="13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短按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1DC30877-E1CE-4592-AA53-AA5016100ED3}"/>
              </a:ext>
            </a:extLst>
          </p:cNvPr>
          <p:cNvSpPr txBox="1"/>
          <p:nvPr/>
        </p:nvSpPr>
        <p:spPr>
          <a:xfrm>
            <a:off x="7616698" y="3936195"/>
            <a:ext cx="1169558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查看尚未上傳的紀錄</a:t>
            </a:r>
            <a:endParaRPr sz="105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2" name="TextBox 14">
            <a:extLst>
              <a:ext uri="{FF2B5EF4-FFF2-40B4-BE49-F238E27FC236}">
                <a16:creationId xmlns:a16="http://schemas.microsoft.com/office/drawing/2014/main" id="{6C1044A0-C01C-E680-33DF-E91DFB89C083}"/>
              </a:ext>
            </a:extLst>
          </p:cNvPr>
          <p:cNvSpPr txBox="1"/>
          <p:nvPr/>
        </p:nvSpPr>
        <p:spPr>
          <a:xfrm>
            <a:off x="4707506" y="4937760"/>
            <a:ext cx="397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平時不用按任何鍵，SmartGateway 會自動運作</a:t>
            </a:r>
            <a:endParaRPr sz="1400" b="1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360B36B5-39E9-B0B1-2B08-EC7A45188A21}"/>
              </a:ext>
            </a:extLst>
          </p:cNvPr>
          <p:cNvSpPr txBox="1"/>
          <p:nvPr/>
        </p:nvSpPr>
        <p:spPr>
          <a:xfrm>
            <a:off x="6229684" y="2758314"/>
            <a:ext cx="1169558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TW" altLang="en-US" sz="13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長按 </a:t>
            </a:r>
            <a:r>
              <a:rPr lang="en-US" altLang="zh-TW" sz="13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 </a:t>
            </a:r>
            <a:r>
              <a:rPr lang="zh-TW" altLang="en-US" sz="13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秒到畫面變化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4B04A3F6-BAC2-DD5C-8B40-C6993897D4A6}"/>
              </a:ext>
            </a:extLst>
          </p:cNvPr>
          <p:cNvSpPr txBox="1"/>
          <p:nvPr/>
        </p:nvSpPr>
        <p:spPr>
          <a:xfrm>
            <a:off x="6219244" y="3194948"/>
            <a:ext cx="1169558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00"/>
              </a:spcBef>
            </a:pPr>
            <a:r>
              <a:rPr lang="zh-TW" altLang="en-US" sz="10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未上傳紀錄重新上傳</a:t>
            </a:r>
            <a:endParaRPr sz="105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69C2994A-19AA-7DBC-4859-E66B755701D7}"/>
              </a:ext>
            </a:extLst>
          </p:cNvPr>
          <p:cNvSpPr txBox="1"/>
          <p:nvPr/>
        </p:nvSpPr>
        <p:spPr>
          <a:xfrm>
            <a:off x="4863001" y="3579592"/>
            <a:ext cx="1169558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短按</a:t>
            </a:r>
            <a:endParaRPr sz="13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DF7AF0B6-3FD6-4CB8-BCFE-7226B158B33F}"/>
              </a:ext>
            </a:extLst>
          </p:cNvPr>
          <p:cNvSpPr txBox="1"/>
          <p:nvPr/>
        </p:nvSpPr>
        <p:spPr>
          <a:xfrm>
            <a:off x="4863001" y="3931980"/>
            <a:ext cx="1169558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TW" altLang="en-US" sz="105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跳過開機的 </a:t>
            </a:r>
            <a:r>
              <a:rPr lang="en-US" altLang="zh-TW" sz="105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3 </a:t>
            </a:r>
            <a:r>
              <a:rPr lang="zh-TW" altLang="en-US" sz="105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分鐘等待</a:t>
            </a:r>
            <a:endParaRPr sz="105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FAC93A-F7FB-EEEB-FFFA-22F1723961E7}"/>
              </a:ext>
            </a:extLst>
          </p:cNvPr>
          <p:cNvSpPr txBox="1"/>
          <p:nvPr/>
        </p:nvSpPr>
        <p:spPr>
          <a:xfrm>
            <a:off x="7646446" y="2741220"/>
            <a:ext cx="1169558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</a:pPr>
            <a:r>
              <a:rPr lang="zh-TW" altLang="en-US" sz="13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重新通電時按住</a:t>
            </a:r>
            <a:r>
              <a:rPr lang="en-US" altLang="zh-TW" sz="13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zh-TW" altLang="en-US" sz="13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秒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89635E93-E25D-64C7-C621-DB9D5BAD3A8A}"/>
              </a:ext>
            </a:extLst>
          </p:cNvPr>
          <p:cNvSpPr txBox="1"/>
          <p:nvPr/>
        </p:nvSpPr>
        <p:spPr>
          <a:xfrm>
            <a:off x="7624451" y="3186764"/>
            <a:ext cx="1169558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00"/>
              </a:spcBef>
            </a:pPr>
            <a:r>
              <a:rPr lang="zh-TW" altLang="en-US" sz="1050" b="0" dirty="0">
                <a:solidFill>
                  <a:srgbClr val="B85C5C"/>
                </a:solidFill>
                <a:latin typeface="微軟正黑體"/>
                <a:ea typeface="微軟正黑體"/>
                <a:cs typeface="微軟正黑體"/>
              </a:rPr>
              <a:t>清除所有資料與設定</a:t>
            </a:r>
            <a:endParaRPr sz="105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33" name="Picture 32" descr="crop_combined_nobg_trim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1" y="2456872"/>
            <a:ext cx="3931919" cy="2093683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1276265" y="2582284"/>
            <a:ext cx="1605010" cy="331011"/>
          </a:xfrm>
          <a:prstGeom prst="ellipse">
            <a:avLst/>
          </a:prstGeom>
          <a:noFill/>
          <a:ln w="38100">
            <a:solidFill>
              <a:srgbClr val="B8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73FEA1-69F7-D43D-3CF2-85F2F68BB746}"/>
              </a:ext>
            </a:extLst>
          </p:cNvPr>
          <p:cNvSpPr txBox="1"/>
          <p:nvPr/>
        </p:nvSpPr>
        <p:spPr>
          <a:xfrm>
            <a:off x="4863845" y="1566412"/>
            <a:ext cx="1169558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TW" altLang="en-US" sz="13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設定</a:t>
            </a:r>
            <a:endParaRPr sz="13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D1F446CE-BC13-1CFF-B45C-A5F19C14B85C}"/>
              </a:ext>
            </a:extLst>
          </p:cNvPr>
          <p:cNvSpPr txBox="1"/>
          <p:nvPr/>
        </p:nvSpPr>
        <p:spPr>
          <a:xfrm>
            <a:off x="6219244" y="1566412"/>
            <a:ext cx="1169558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TW" altLang="en-US" sz="13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上傳</a:t>
            </a:r>
            <a:endParaRPr sz="13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52BEBBA5-AD93-D388-8503-EA2F88BCBB4B}"/>
              </a:ext>
            </a:extLst>
          </p:cNvPr>
          <p:cNvSpPr txBox="1"/>
          <p:nvPr/>
        </p:nvSpPr>
        <p:spPr>
          <a:xfrm>
            <a:off x="7646446" y="1566412"/>
            <a:ext cx="1169558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TW" altLang="en-US" sz="13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紀錄</a:t>
            </a:r>
            <a:endParaRPr sz="13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C8C80"/>
                </a:solidFill>
                <a:latin typeface="微軟正黑體"/>
                <a:ea typeface="微軟正黑體"/>
                <a:cs typeface="微軟正黑體"/>
              </a:rPr>
              <a:t>二　設定 SmartGateway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只有安裝或換環境時才需要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buNone/>
            </a:pPr>
            <a:r>
              <a:rPr sz="19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第一次啟用</a:t>
            </a:r>
          </a:p>
          <a:p>
            <a:pPr>
              <a:spcAft>
                <a:spcPts val="1600"/>
              </a:spcAft>
              <a:buNone/>
            </a:pPr>
            <a:r>
              <a:rPr sz="14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還沒設定過 Wi-Fi 與個案資料時</a:t>
            </a:r>
          </a:p>
          <a:p>
            <a:pPr>
              <a:spcAft>
                <a:spcPts val="400"/>
              </a:spcAft>
              <a:buNone/>
            </a:pPr>
            <a:r>
              <a:rPr sz="19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個案更換環境</a:t>
            </a:r>
          </a:p>
          <a:p>
            <a:pPr>
              <a:spcAft>
                <a:spcPts val="1600"/>
              </a:spcAft>
              <a:buNone/>
            </a:pPr>
            <a:r>
              <a:rPr sz="14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搬家、更換照護地點、Wi-Fi 改變時</a:t>
            </a:r>
          </a:p>
          <a:p>
            <a:pPr>
              <a:spcAft>
                <a:spcPts val="400"/>
              </a:spcAft>
              <a:buNone/>
            </a:pPr>
            <a:r>
              <a:rPr sz="19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個案資料需要更新</a:t>
            </a:r>
          </a:p>
          <a:p>
            <a:pPr>
              <a:spcAft>
                <a:spcPts val="1600"/>
              </a:spcAft>
              <a:buNone/>
            </a:pPr>
            <a:r>
              <a:rPr sz="14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身份證字號需要更正時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何時需要設定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設定五步驟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首次部署、個案更換居住地點／Wi-Fi 環境，或系統重開機時，都會走這個流程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4892040" cy="658368"/>
          </a:xfrm>
          <a:prstGeom prst="roundRect">
            <a:avLst>
              <a:gd name="adj" fmla="val 16000"/>
            </a:avLst>
          </a:prstGeom>
          <a:solidFill>
            <a:srgbClr val="F4F8F9"/>
          </a:solidFill>
          <a:ln w="228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71500" y="1449324"/>
            <a:ext cx="502920" cy="502920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426464"/>
            <a:ext cx="3886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"/>
              </a:spcAft>
            </a:pPr>
            <a:r>
              <a:rPr sz="13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插上電源／開機</a:t>
            </a:r>
          </a:p>
          <a:p>
            <a:r>
              <a:rPr sz="110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自動進入設定畫面（燈號恆亮），最長等待 3 分鐘、不用按任何鍵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21408"/>
            <a:ext cx="4892040" cy="658368"/>
          </a:xfrm>
          <a:prstGeom prst="roundRect">
            <a:avLst>
              <a:gd name="adj" fmla="val 16000"/>
            </a:avLst>
          </a:prstGeom>
          <a:solidFill>
            <a:srgbClr val="F4F8F9"/>
          </a:solidFill>
          <a:ln w="228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71500" y="2199132"/>
            <a:ext cx="502920" cy="502920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176272"/>
            <a:ext cx="3886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"/>
              </a:spcAft>
            </a:pPr>
            <a:r>
              <a:rPr sz="13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手機連上 SmartGateway 熱點</a:t>
            </a:r>
          </a:p>
          <a:p>
            <a:r>
              <a:rPr sz="110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掃「1. Join WiFi」QR code，或搜尋「GATEWAY-XXXX」直接加入（無密碼）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871216"/>
            <a:ext cx="4892040" cy="658368"/>
          </a:xfrm>
          <a:prstGeom prst="roundRect">
            <a:avLst>
              <a:gd name="adj" fmla="val 16000"/>
            </a:avLst>
          </a:prstGeom>
          <a:solidFill>
            <a:srgbClr val="F4F8F9"/>
          </a:solidFill>
          <a:ln w="228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71500" y="2948940"/>
            <a:ext cx="502920" cy="502920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926080"/>
            <a:ext cx="3886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"/>
              </a:spcAft>
            </a:pPr>
            <a:r>
              <a:rPr sz="135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設定頁面開啟</a:t>
            </a:r>
            <a:endParaRPr sz="135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r>
              <a:rPr sz="110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通常自動跳出；沒跳出就掃「2. </a:t>
            </a:r>
            <a:r>
              <a:rPr sz="110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Setup」QR</a:t>
            </a:r>
            <a:r>
              <a:rPr sz="110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10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code，或輸入</a:t>
            </a:r>
            <a:r>
              <a:rPr sz="110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192.168.4.1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621024"/>
            <a:ext cx="4892040" cy="658368"/>
          </a:xfrm>
          <a:prstGeom prst="roundRect">
            <a:avLst>
              <a:gd name="adj" fmla="val 16000"/>
            </a:avLst>
          </a:prstGeom>
          <a:solidFill>
            <a:srgbClr val="F4F8F9"/>
          </a:solidFill>
          <a:ln w="228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71500" y="3698748"/>
            <a:ext cx="502920" cy="502920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675888"/>
            <a:ext cx="3886200" cy="482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"/>
              </a:spcAft>
            </a:pPr>
            <a:r>
              <a:rPr lang="zh-TW" altLang="en-US" sz="13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手機</a:t>
            </a:r>
            <a:r>
              <a:rPr sz="135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填寫設定頁面</a:t>
            </a:r>
            <a:endParaRPr sz="135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r>
              <a:rPr sz="110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Wi-Fi </a:t>
            </a:r>
            <a:r>
              <a:rPr sz="110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帳密、個案身份證字號</a:t>
            </a:r>
            <a:endParaRPr sz="110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65760" y="4370832"/>
            <a:ext cx="4892040" cy="658368"/>
          </a:xfrm>
          <a:prstGeom prst="roundRect">
            <a:avLst>
              <a:gd name="adj" fmla="val 16000"/>
            </a:avLst>
          </a:prstGeom>
          <a:solidFill>
            <a:srgbClr val="F4F8F9"/>
          </a:solidFill>
          <a:ln w="228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71500" y="4448556"/>
            <a:ext cx="502920" cy="502920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425696"/>
            <a:ext cx="3886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"/>
              </a:spcAft>
            </a:pPr>
            <a:r>
              <a:rPr sz="13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自動回到量測模式</a:t>
            </a:r>
          </a:p>
          <a:p>
            <a:r>
              <a:rPr sz="110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送出後立即套用；3 分鐘沒動作也會自動跳過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212080"/>
            <a:ext cx="4892040" cy="984004"/>
          </a:xfrm>
          <a:prstGeom prst="roundRect">
            <a:avLst>
              <a:gd name="adj" fmla="val 14000"/>
            </a:avLst>
          </a:prstGeom>
          <a:solidFill>
            <a:srgbClr val="FFF3E6"/>
          </a:solidFill>
          <a:ln w="2286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303520"/>
            <a:ext cx="4343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34349"/>
                </a:solidFill>
                <a:latin typeface="微軟正黑體"/>
                <a:ea typeface="微軟正黑體"/>
                <a:cs typeface="微軟正黑體"/>
              </a:rPr>
              <a:t>SmartGateway 已經在量測模式，之後想重新設定怎麼辦？</a:t>
            </a:r>
          </a:p>
          <a:p>
            <a:r>
              <a:rPr sz="110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長按左鍵 3 秒即可隨時重新進入設定畫面，不用重開機——一樣有 3 分鐘時間限制，避免誤觸後長時間沒接收資料</a:t>
            </a:r>
          </a:p>
        </p:txBody>
      </p:sp>
      <p:pic>
        <p:nvPicPr>
          <p:cNvPr id="28" name="Picture 27" descr="screen_ap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311" y="2121408"/>
            <a:ext cx="2867697" cy="1417320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6914285" y="2662998"/>
            <a:ext cx="274320" cy="274320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7582350" y="2662998"/>
            <a:ext cx="274320" cy="274320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55701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步驟 2-3 會看到的畫面</a:t>
            </a:r>
          </a:p>
        </p:txBody>
      </p:sp>
      <p:pic>
        <p:nvPicPr>
          <p:cNvPr id="25" name="Picture 24" descr="settings_page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929" y="3913632"/>
            <a:ext cx="814991" cy="1234439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7496905" y="3813048"/>
            <a:ext cx="292608" cy="292608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1663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步驟 4 會看到的畫面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設定畫面與掃碼（對應步驟 2-3）</a:t>
            </a:r>
          </a:p>
        </p:txBody>
      </p:sp>
      <p:pic>
        <p:nvPicPr>
          <p:cNvPr id="12" name="Picture 11" descr="screen_ap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5077"/>
            <a:ext cx="5120640" cy="253080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944290" y="3613337"/>
            <a:ext cx="347472" cy="347472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5" name="Oval 4"/>
          <p:cNvSpPr/>
          <p:nvPr/>
        </p:nvSpPr>
        <p:spPr>
          <a:xfrm>
            <a:off x="4137205" y="3613337"/>
            <a:ext cx="347472" cy="347472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開機後 SmartGateway 一律先進入這個畫面，最長等待 3 分鐘；沒人操作就自動進入量測模式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762" y="1967761"/>
            <a:ext cx="457207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Wi-Fi 名稱／個案身份證字號（供核對用）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575077"/>
            <a:ext cx="2926080" cy="3072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步驟</a:t>
            </a:r>
            <a:r>
              <a:rPr sz="15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2：「1. Join </a:t>
            </a:r>
            <a:r>
              <a:rPr sz="15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WiFi」QR</a:t>
            </a:r>
            <a:r>
              <a:rPr sz="15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code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用</a:t>
            </a:r>
            <a:r>
              <a:rPr sz="1200" b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手機相機</a:t>
            </a:r>
            <a:r>
              <a:rPr lang="en-US" altLang="zh-TW" sz="120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120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注意不要用</a:t>
            </a:r>
            <a:r>
              <a:rPr lang="en-US" altLang="zh-TW" sz="120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Line</a:t>
            </a:r>
            <a:r>
              <a:rPr lang="zh-TW" altLang="en-US" sz="120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相機</a:t>
            </a:r>
            <a:r>
              <a:rPr lang="en-US" altLang="zh-TW" sz="120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掃描，自動加入這台</a:t>
            </a:r>
            <a:r>
              <a:rPr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SmartGateway</a:t>
            </a:r>
            <a:r>
              <a:rPr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的熱點</a:t>
            </a:r>
            <a:endParaRPr lang="en-US" sz="120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zh-TW" altLang="en-US"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或是到設定</a:t>
            </a:r>
            <a:r>
              <a:rPr lang="en-US" altLang="zh-TW"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-&gt;Wi-Fi</a:t>
            </a:r>
            <a:r>
              <a:rPr lang="zh-TW" altLang="en-US" sz="120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，</a:t>
            </a:r>
            <a:r>
              <a:rPr lang="zh-TW" altLang="en-US"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選擇</a:t>
            </a:r>
            <a:r>
              <a:rPr lang="en-US" altLang="zh-TW"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GATEWAT-XXXX</a:t>
            </a:r>
            <a:r>
              <a:rPr lang="zh-TW" altLang="en-US"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參考螢幕上顯示的</a:t>
            </a:r>
            <a:r>
              <a:rPr lang="en-US" altLang="zh-TW"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SSID)</a:t>
            </a:r>
            <a:endParaRPr sz="12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000"/>
              </a:spcBef>
            </a:pPr>
            <a:r>
              <a:rPr sz="15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步驟</a:t>
            </a:r>
            <a:r>
              <a:rPr sz="15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3：「2. </a:t>
            </a:r>
            <a:r>
              <a:rPr sz="15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Setup」QR</a:t>
            </a:r>
            <a:r>
              <a:rPr sz="15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code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通常網頁在連上</a:t>
            </a:r>
            <a:r>
              <a:rPr lang="en-US" altLang="zh-TW" sz="120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Wifi</a:t>
            </a:r>
            <a:r>
              <a:rPr lang="zh-TW" altLang="en-US" sz="120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後會自動跳出，如果沒跳出，請掃描</a:t>
            </a:r>
            <a:r>
              <a:rPr lang="en-US" altLang="zh-TW" sz="120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Setup</a:t>
            </a:r>
            <a:r>
              <a:rPr lang="zh-TW" altLang="en-US" sz="120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120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QR code</a:t>
            </a:r>
            <a:endParaRPr lang="en-US" sz="12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掃了直接開啟設定頁網址（沒自動跳出設定頁時的備援方法</a:t>
            </a:r>
            <a:r>
              <a:rPr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）；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下方印的</a:t>
            </a:r>
            <a:r>
              <a:rPr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192.168.4.1 </a:t>
            </a:r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是同一個網址，QR</a:t>
            </a:r>
            <a:r>
              <a:rPr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掃不了也能手動</a:t>
            </a:r>
            <a:r>
              <a:rPr lang="zh-TW" altLang="en-US"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在瀏覽器</a:t>
            </a:r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輸入</a:t>
            </a:r>
            <a:endParaRPr sz="12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設定表單欄位（對應步驟 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397763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sz="15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Wi-Fi </a:t>
            </a:r>
            <a:r>
              <a:rPr sz="15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名稱</a:t>
            </a:r>
            <a:endParaRPr sz="15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1400"/>
              </a:spcAft>
              <a:buNone/>
            </a:pPr>
            <a:r>
              <a:rPr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</a:t>
            </a:r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已自動選到目前使用的網路，也能重新選擇或手動輸入</a:t>
            </a:r>
            <a:endParaRPr sz="12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400"/>
              </a:spcAft>
              <a:buNone/>
            </a:pPr>
            <a:r>
              <a:rPr sz="15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Wi-Fi </a:t>
            </a:r>
            <a:r>
              <a:rPr sz="15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密碼</a:t>
            </a:r>
            <a:endParaRPr sz="15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1400"/>
              </a:spcAft>
              <a:buNone/>
            </a:pPr>
            <a:r>
              <a:rPr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</a:t>
            </a:r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已自動帶入目前密碼（畫面仍會遮罩顯示）</a:t>
            </a:r>
            <a:endParaRPr sz="12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400"/>
              </a:spcAft>
              <a:buNone/>
            </a:pPr>
            <a:r>
              <a:rPr sz="15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</a:t>
            </a:r>
            <a:r>
              <a:rPr sz="15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個案身份證字號</a:t>
            </a:r>
            <a:endParaRPr sz="15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1400"/>
              </a:spcAft>
              <a:buNone/>
            </a:pPr>
            <a:r>
              <a:rPr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</a:t>
            </a:r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已自動帶入上次填寫的資料，如有變更再修改即可</a:t>
            </a:r>
            <a:endParaRPr sz="12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8" name="Picture 7" descr="settings_page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426" y="1188720"/>
            <a:ext cx="3531628" cy="5349240"/>
          </a:xfrm>
          <a:prstGeom prst="rect">
            <a:avLst/>
          </a:prstGeom>
        </p:spPr>
      </p:pic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FFFC8EF5-8A7F-79CA-AEB3-E0A59EF03F22}"/>
              </a:ext>
            </a:extLst>
          </p:cNvPr>
          <p:cNvSpPr txBox="1">
            <a:spLocks/>
          </p:cNvSpPr>
          <p:nvPr/>
        </p:nvSpPr>
        <p:spPr>
          <a:xfrm>
            <a:off x="450850" y="3527970"/>
            <a:ext cx="4121150" cy="1876543"/>
          </a:xfrm>
          <a:prstGeom prst="rect">
            <a:avLst/>
          </a:prstGeom>
        </p:spPr>
        <p:txBody>
          <a:bodyPr wrap="squar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Aft>
                <a:spcPts val="400"/>
              </a:spcAft>
              <a:buFontTx/>
              <a:buNone/>
            </a:pPr>
            <a:r>
              <a:rPr lang="zh-TW" altLang="en-US" sz="2400" kern="0" dirty="0">
                <a:latin typeface="微軟正黑體"/>
                <a:ea typeface="微軟正黑體"/>
                <a:cs typeface="微軟正黑體"/>
              </a:rPr>
              <a:t>取消設定</a:t>
            </a:r>
            <a:endParaRPr lang="zh-TW" altLang="en-US" sz="1900" b="1" kern="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400"/>
              </a:spcAft>
              <a:buFontTx/>
              <a:buNone/>
            </a:pPr>
            <a:r>
              <a:rPr lang="en-US" altLang="zh-TW" sz="1900" b="1" kern="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</a:t>
            </a:r>
            <a:r>
              <a:rPr lang="zh-TW" altLang="en-US" sz="1900" b="1" kern="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短按</a:t>
            </a:r>
            <a:r>
              <a:rPr lang="en-US" altLang="zh-TW" sz="1900" b="1" kern="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SmartGateway</a:t>
            </a:r>
            <a:r>
              <a:rPr lang="zh-TW" altLang="en-US" sz="1900" b="1" kern="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左鍵 ＝取消修改，回到日常量測</a:t>
            </a:r>
          </a:p>
          <a:p>
            <a:pPr>
              <a:spcAft>
                <a:spcPts val="1600"/>
              </a:spcAft>
              <a:buFontTx/>
              <a:buNone/>
            </a:pPr>
            <a:r>
              <a:rPr lang="zh-TW" altLang="en-US" sz="1400" kern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不會儲存任何變更，也能用來跳過開機的 </a:t>
            </a:r>
            <a:r>
              <a:rPr lang="en-US" altLang="zh-TW" sz="1400" kern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3 </a:t>
            </a:r>
            <a:r>
              <a:rPr lang="zh-TW" altLang="en-US" sz="1400" kern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分鐘等待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42005"/>
            <a:ext cx="4200000" cy="850000"/>
          </a:xfrm>
          <a:prstGeom prst="roundRect">
            <a:avLst/>
          </a:prstGeom>
          <a:solidFill>
            <a:srgbClr val="FFF3E6"/>
          </a:solidFill>
          <a:ln w="2286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14300" rIns="228600" rtlCol="0" anchor="ctr"/>
          <a:lstStyle/>
          <a:p>
            <a:pPr algn="ctr"/>
            <a:r>
              <a:rPr sz="1300" b="1" dirty="0" err="1">
                <a:solidFill>
                  <a:srgbClr val="134349"/>
                </a:solidFill>
                <a:latin typeface="微軟正黑體"/>
                <a:ea typeface="微軟正黑體"/>
                <a:cs typeface="微軟正黑體"/>
              </a:rPr>
              <a:t>這裡的 Wi-Fi 跟步驟 2 連的 SmartGateway 熱點不一樣</a:t>
            </a:r>
            <a:endParaRPr sz="1300" b="1" dirty="0">
              <a:solidFill>
                <a:srgbClr val="134349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400"/>
              </a:spcBef>
            </a:pPr>
            <a:r>
              <a:rPr sz="11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SmartGateway</a:t>
            </a:r>
            <a:r>
              <a:rPr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1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熱點只是暫時用來設定；這裡選的才是之後要連上網路用的</a:t>
            </a:r>
            <a:r>
              <a:rPr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Wi-Fi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9653A68D-30CB-E13D-DA63-E8032D1ACE2F}"/>
              </a:ext>
            </a:extLst>
          </p:cNvPr>
          <p:cNvSpPr/>
          <p:nvPr/>
        </p:nvSpPr>
        <p:spPr>
          <a:xfrm>
            <a:off x="4650850" y="2570898"/>
            <a:ext cx="347472" cy="347472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4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  <a:endParaRPr sz="1400" b="1" dirty="0">
              <a:solidFill>
                <a:srgbClr val="FFFFFF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1DEDDD-D045-4F99-B8AB-FD6486AE8ECC}"/>
              </a:ext>
            </a:extLst>
          </p:cNvPr>
          <p:cNvSpPr/>
          <p:nvPr/>
        </p:nvSpPr>
        <p:spPr>
          <a:xfrm>
            <a:off x="4657200" y="5928769"/>
            <a:ext cx="347472" cy="347472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4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5</a:t>
            </a:r>
            <a:endParaRPr sz="1400" b="1" dirty="0">
              <a:solidFill>
                <a:srgbClr val="FFFFFF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C8C80"/>
                </a:solidFill>
                <a:latin typeface="微軟正黑體"/>
                <a:ea typeface="微軟正黑體"/>
                <a:cs typeface="微軟正黑體"/>
              </a:rPr>
              <a:t>三　日常使用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個管師／護理師平時不需要碰 SmartGateway</a:t>
            </a:r>
            <a:endParaRPr sz="160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全自動三步驟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377440"/>
            <a:ext cx="2194559" cy="1371600"/>
          </a:xfrm>
          <a:prstGeom prst="roundRect">
            <a:avLst>
              <a:gd name="adj" fmla="val 14000"/>
            </a:avLst>
          </a:prstGeom>
          <a:solidFill>
            <a:srgbClr val="F4F8F9"/>
          </a:solidFill>
          <a:ln w="2540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668779" y="2491740"/>
            <a:ext cx="502920" cy="502920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2103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個案／照護者量測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19" y="28346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19" y="2377440"/>
            <a:ext cx="2194559" cy="1371600"/>
          </a:xfrm>
          <a:prstGeom prst="roundRect">
            <a:avLst>
              <a:gd name="adj" fmla="val 14000"/>
            </a:avLst>
          </a:prstGeom>
          <a:solidFill>
            <a:srgbClr val="F4F8F9"/>
          </a:solidFill>
          <a:ln w="2540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320538" y="2491740"/>
            <a:ext cx="502920" cy="502920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3108960"/>
            <a:ext cx="2103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SmartGateway 自動連線收值</a:t>
            </a:r>
            <a:endParaRPr sz="125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78" y="28346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8" y="2377440"/>
            <a:ext cx="2194559" cy="1371600"/>
          </a:xfrm>
          <a:prstGeom prst="roundRect">
            <a:avLst>
              <a:gd name="adj" fmla="val 14000"/>
            </a:avLst>
          </a:prstGeom>
          <a:solidFill>
            <a:srgbClr val="F4F8F9"/>
          </a:solidFill>
          <a:ln w="25400">
            <a:solidFill>
              <a:srgbClr val="3C8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972297" y="2491740"/>
            <a:ext cx="502920" cy="502920"/>
          </a:xfrm>
          <a:prstGeom prst="ellipse">
            <a:avLst/>
          </a:prstGeom>
          <a:solidFill>
            <a:srgbClr val="3C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198" y="3108960"/>
            <a:ext cx="2103119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2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等待</a:t>
            </a:r>
            <a:r>
              <a:rPr sz="125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數秒後自動上傳</a:t>
            </a:r>
            <a:endParaRPr sz="125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螢幕四種畫面總覽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8651"/>
            <a:ext cx="3931920" cy="19432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59359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① </a:t>
            </a:r>
            <a:r>
              <a:rPr sz="12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日常量測（常駐畫面</a:t>
            </a:r>
            <a:r>
              <a:rPr sz="12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</p:txBody>
      </p:sp>
      <p:pic>
        <p:nvPicPr>
          <p:cNvPr id="5" name="Picture 4" descr="screen_ap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428651"/>
            <a:ext cx="3931920" cy="19432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359359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② 設定模式（開機自動進入，最長 3 分鐘）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16649"/>
            <a:ext cx="3931920" cy="19432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28159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③ 上傳中／完成／發生錯誤（ERROR 畫面）</a:t>
            </a:r>
          </a:p>
        </p:txBody>
      </p:sp>
      <p:pic>
        <p:nvPicPr>
          <p:cNvPr id="9" name="Picture 8" descr="screen_his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116649"/>
            <a:ext cx="3931920" cy="19432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880" y="628159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④ 右鍵：查看尚未上傳的紀錄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/>
                <a:ea typeface="微軟正黑體"/>
                <a:cs typeface="微軟正黑體"/>
              </a:rPr>
              <a:t>日常量測</a:t>
            </a:r>
            <a:endParaRPr dirty="0">
              <a:latin typeface="微軟正黑體"/>
              <a:ea typeface="微軟正黑體"/>
              <a:cs typeface="微軟正黑體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C1BE687A-4F56-4C25-DDE0-85BE65B7F4A1}"/>
              </a:ext>
            </a:extLst>
          </p:cNvPr>
          <p:cNvGrpSpPr/>
          <p:nvPr/>
        </p:nvGrpSpPr>
        <p:grpSpPr>
          <a:xfrm>
            <a:off x="2062842" y="937953"/>
            <a:ext cx="5145316" cy="2543001"/>
            <a:chOff x="1417320" y="1206903"/>
            <a:chExt cx="5145316" cy="2543001"/>
          </a:xfrm>
        </p:grpSpPr>
        <p:pic>
          <p:nvPicPr>
            <p:cNvPr id="16" name="Picture 15" descr="screen_mockup_photo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7320" y="1206903"/>
              <a:ext cx="5145316" cy="2543001"/>
            </a:xfrm>
            <a:prstGeom prst="rect">
              <a:avLst/>
            </a:prstGeom>
          </p:spPr>
        </p:pic>
        <p:sp>
          <p:nvSpPr>
            <p:cNvPr id="4" name="Oval 3"/>
            <p:cNvSpPr/>
            <p:nvPr/>
          </p:nvSpPr>
          <p:spPr>
            <a:xfrm>
              <a:off x="1879183" y="1716543"/>
              <a:ext cx="197327" cy="197327"/>
            </a:xfrm>
            <a:prstGeom prst="ellipse">
              <a:avLst/>
            </a:prstGeom>
            <a:solidFill>
              <a:srgbClr val="E088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829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</a:rPr>
                <a:t>1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879183" y="1917450"/>
              <a:ext cx="197327" cy="197327"/>
            </a:xfrm>
            <a:prstGeom prst="ellipse">
              <a:avLst/>
            </a:prstGeom>
            <a:solidFill>
              <a:srgbClr val="E088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829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</a:rPr>
                <a:t>2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1879183" y="2118356"/>
              <a:ext cx="197327" cy="197327"/>
            </a:xfrm>
            <a:prstGeom prst="ellipse">
              <a:avLst/>
            </a:prstGeom>
            <a:solidFill>
              <a:srgbClr val="E088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829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</a:rPr>
                <a:t>3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879183" y="2319263"/>
              <a:ext cx="197327" cy="197327"/>
            </a:xfrm>
            <a:prstGeom prst="ellipse">
              <a:avLst/>
            </a:prstGeom>
            <a:solidFill>
              <a:srgbClr val="E088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829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</a:rPr>
                <a:t>4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879183" y="2520168"/>
              <a:ext cx="197327" cy="197327"/>
            </a:xfrm>
            <a:prstGeom prst="ellipse">
              <a:avLst/>
            </a:prstGeom>
            <a:solidFill>
              <a:srgbClr val="E088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829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</a:rPr>
                <a:t>5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879183" y="2721075"/>
              <a:ext cx="197327" cy="197327"/>
            </a:xfrm>
            <a:prstGeom prst="ellipse">
              <a:avLst/>
            </a:prstGeom>
            <a:solidFill>
              <a:srgbClr val="E088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829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</a:rPr>
                <a:t>6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879183" y="2921981"/>
              <a:ext cx="197327" cy="197327"/>
            </a:xfrm>
            <a:prstGeom prst="ellipse">
              <a:avLst/>
            </a:prstGeom>
            <a:solidFill>
              <a:srgbClr val="E088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829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</a:rPr>
                <a:t>7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879183" y="3122888"/>
              <a:ext cx="197327" cy="197327"/>
            </a:xfrm>
            <a:prstGeom prst="ellipse">
              <a:avLst/>
            </a:prstGeom>
            <a:solidFill>
              <a:srgbClr val="E088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829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</a:rPr>
                <a:t>8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下面 1-8 由上到下，跟螢幕上的每一行一一對應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4235986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  </a:t>
            </a:r>
            <a:r>
              <a:rPr sz="115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個案編號＋目前狀態</a:t>
            </a:r>
            <a:endParaRPr lang="en-US" sz="115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600"/>
              </a:spcAft>
            </a:pPr>
            <a:r>
              <a:rPr lang="zh-TW" altLang="en-US"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</a:t>
            </a: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（含最後掃描時間，證明 SmartGateway 還活著）</a:t>
            </a:r>
          </a:p>
          <a:p>
            <a:pPr>
              <a:spcAft>
                <a:spcPts val="600"/>
              </a:spcAft>
            </a:pP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  </a:t>
            </a:r>
            <a:r>
              <a:rPr sz="115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體溫（額溫槍</a:t>
            </a: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  <a:p>
            <a:pPr>
              <a:spcAft>
                <a:spcPts val="600"/>
              </a:spcAft>
            </a:pP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  </a:t>
            </a:r>
            <a:r>
              <a:rPr sz="115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血氧／脈搏（血氧計</a:t>
            </a: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  <a:p>
            <a:pPr>
              <a:spcAft>
                <a:spcPts val="600"/>
              </a:spcAft>
            </a:pP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4  </a:t>
            </a:r>
            <a:r>
              <a:rPr sz="115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脈搏（依來源標註</a:t>
            </a: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BP 或 O2）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49040"/>
            <a:ext cx="3977640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5  </a:t>
            </a:r>
            <a:r>
              <a:rPr sz="115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血糖（依來源標註 D40／MD6／GM</a:t>
            </a: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  <a:p>
            <a:pPr>
              <a:spcAft>
                <a:spcPts val="600"/>
              </a:spcAft>
            </a:pP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6  </a:t>
            </a:r>
            <a:r>
              <a:rPr sz="115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血壓：收縮壓／舒張壓</a:t>
            </a:r>
            <a:r>
              <a:rPr lang="zh-TW" altLang="en-US"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血壓計</a:t>
            </a:r>
            <a:r>
              <a:rPr lang="en-US" altLang="zh-TW"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)</a:t>
            </a:r>
            <a:endParaRPr sz="115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600"/>
              </a:spcAft>
            </a:pP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7  </a:t>
            </a:r>
            <a:r>
              <a:rPr sz="115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六合一其他項目（最新一項：HCT／酮體／尿酸／膽固醇／血紅素</a:t>
            </a: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  <a:p>
            <a:pPr>
              <a:spcAft>
                <a:spcPts val="600"/>
              </a:spcAft>
            </a:pP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8  </a:t>
            </a:r>
            <a:r>
              <a:rPr sz="115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最後上傳時間＋尚未上傳筆數</a:t>
            </a:r>
            <a:endParaRPr sz="115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524377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沒量過的項目會顯示</a:t>
            </a:r>
            <a:r>
              <a:rPr sz="100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「-- (never)」；</a:t>
            </a:r>
            <a:r>
              <a:rPr sz="100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還沒校時成功時時間戳會顯示「unsynced</a:t>
            </a:r>
            <a:r>
              <a:rPr sz="100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,+</a:t>
            </a:r>
            <a:r>
              <a:rPr sz="100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N分鐘</a:t>
            </a:r>
            <a:r>
              <a:rPr sz="100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」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664174"/>
              </p:ext>
            </p:extLst>
          </p:nvPr>
        </p:nvGraphicFramePr>
        <p:xfrm>
          <a:off x="673636" y="5641848"/>
          <a:ext cx="7117814" cy="89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5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2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6666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34349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醫材</a:t>
                      </a:r>
                      <a:endParaRPr sz="1100" b="1" dirty="0">
                        <a:solidFill>
                          <a:srgbClr val="134349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34349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時間來源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66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額溫槍／血氧計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 dirty="0" err="1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SmartGateway</a:t>
                      </a:r>
                      <a:r>
                        <a:rPr sz="1000" b="0" dirty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收到時間</a:t>
                      </a:r>
                      <a:endParaRPr sz="1000" b="0" dirty="0">
                        <a:solidFill>
                          <a:srgbClr val="333333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6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血壓計／六合一／血糖機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1. 優先用醫材自己的量測時間</a:t>
                      </a:r>
                    </a:p>
                    <a:p>
                      <a:r>
                        <a:rPr sz="1000" b="0" dirty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 差超過 7 天，改用SmartGateway 收到時間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額溫槍 FORA IR42｜藍牙使用須知</a:t>
            </a:r>
          </a:p>
        </p:txBody>
      </p:sp>
      <p:pic>
        <p:nvPicPr>
          <p:cNvPr id="5" name="Picture 4" descr="IR.jp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400" b="99400" l="10000" r="90000">
                        <a14:foregroundMark x1="30600" y1="38800" x2="34200" y2="1400"/>
                        <a14:foregroundMark x1="34200" y1="1400" x2="59800" y2="1400"/>
                        <a14:foregroundMark x1="59800" y1="1400" x2="63400" y2="17800"/>
                        <a14:foregroundMark x1="63400" y1="17800" x2="61400" y2="95400"/>
                        <a14:foregroundMark x1="61400" y1="95400" x2="39000" y2="99400"/>
                        <a14:foregroundMark x1="39000" y1="99400" x2="28200" y2="83800"/>
                        <a14:foregroundMark x1="28200" y1="83800" x2="30400" y2="38600"/>
                        <a14:foregroundMark x1="34000" y1="9400" x2="64000" y2="2800"/>
                        <a14:foregroundMark x1="64000" y1="2800" x2="51400" y2="12000"/>
                        <a14:foregroundMark x1="51400" y1="12000" x2="37000" y2="8000"/>
                        <a14:foregroundMark x1="37000" y1="8000" x2="36400" y2="7200"/>
                        <a14:foregroundMark x1="38000" y1="8200" x2="59400" y2="2400"/>
                        <a14:foregroundMark x1="59400" y1="2400" x2="41600" y2="9600"/>
                        <a14:foregroundMark x1="41600" y1="9600" x2="39200" y2="9000"/>
                        <a14:backgroundMark x1="22600" y1="34600" x2="22000" y2="93800"/>
                        <a14:backgroundMark x1="22000" y1="93800" x2="4200" y2="89400"/>
                        <a14:backgroundMark x1="4200" y1="89400" x2="1400" y2="44000"/>
                        <a14:backgroundMark x1="1400" y1="44000" x2="11600" y2="30800"/>
                        <a14:backgroundMark x1="11600" y1="30800" x2="22600" y2="386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200" y="123444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26280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藍牙圖示：出現在螢幕</a:t>
            </a:r>
            <a:r>
              <a:rPr lang="zh-TW" altLang="en-US"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右</a:t>
            </a:r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上角（電池圖示旁</a:t>
            </a:r>
            <a:r>
              <a:rPr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6" name="Oval 5"/>
          <p:cNvSpPr/>
          <p:nvPr/>
        </p:nvSpPr>
        <p:spPr>
          <a:xfrm>
            <a:off x="1815153" y="1706508"/>
            <a:ext cx="289280" cy="316167"/>
          </a:xfrm>
          <a:prstGeom prst="ellipse">
            <a:avLst/>
          </a:prstGeom>
          <a:noFill/>
          <a:ln w="38100">
            <a:solidFill>
              <a:srgbClr val="009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86200" y="1310000"/>
            <a:ext cx="4800600" cy="98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量測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對準額頭或耳朵，觸發測量，立即顯示體溫</a:t>
            </a:r>
          </a:p>
        </p:txBody>
      </p:sp>
      <p:sp>
        <p:nvSpPr>
          <p:cNvPr id="8" name="Oval 7"/>
          <p:cNvSpPr/>
          <p:nvPr/>
        </p:nvSpPr>
        <p:spPr>
          <a:xfrm>
            <a:off x="4026200" y="1450000"/>
            <a:ext cx="360000" cy="360000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2380000"/>
            <a:ext cx="4800600" cy="98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醫材開始廣播</a:t>
            </a:r>
            <a:endParaRPr sz="13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sz="11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量測完成後才會開啟藍牙（螢幕出現藍牙圖示，如左圖</a:t>
            </a:r>
            <a:r>
              <a:rPr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10" name="Oval 9"/>
          <p:cNvSpPr/>
          <p:nvPr/>
        </p:nvSpPr>
        <p:spPr>
          <a:xfrm>
            <a:off x="4026200" y="2520000"/>
            <a:ext cx="360000" cy="360000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3450000"/>
            <a:ext cx="4800600" cy="98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3C8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SmartGateway 自動抓取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SmartGateway 在範圍內就會自動連線收下這筆體溫，不用手動操作；同一數值 3 分鐘內再量到視為同一筆，不重複記錄</a:t>
            </a:r>
          </a:p>
        </p:txBody>
      </p:sp>
      <p:sp>
        <p:nvSpPr>
          <p:cNvPr id="12" name="Oval 11"/>
          <p:cNvSpPr/>
          <p:nvPr/>
        </p:nvSpPr>
        <p:spPr>
          <a:xfrm>
            <a:off x="4026200" y="3590000"/>
            <a:ext cx="360000" cy="360000"/>
          </a:xfrm>
          <a:prstGeom prst="ellipse">
            <a:avLst/>
          </a:prstGeom>
          <a:solidFill>
            <a:srgbClr val="3C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4520000"/>
            <a:ext cx="4800600" cy="980000"/>
          </a:xfrm>
          <a:prstGeom prst="roundRect">
            <a:avLst/>
          </a:prstGeom>
          <a:solidFill>
            <a:srgbClr val="FFF3E6"/>
          </a:solidFill>
          <a:ln w="2540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醫材約 1 分鐘後自動關機</a:t>
            </a:r>
            <a:endParaRPr sz="13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sz="11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若這段時間內 SmartGateway 沒連上，醫材會關機、藍牙跟著關閉，這筆數值不會被收到，需要重新量測一次</a:t>
            </a:r>
            <a:endParaRPr sz="11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4026200" y="4660000"/>
            <a:ext cx="360000" cy="360000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50877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血氧計 FORA O2｜藍牙使用須知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backgroundMark x1="19400" y1="21300" x2="6200" y2="11700"/>
                        <a14:backgroundMark x1="6200" y1="11700" x2="22000" y2="15400"/>
                        <a14:backgroundMark x1="22000" y1="15400" x2="11100" y2="118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200" y="123444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26280"/>
            <a:ext cx="3200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藍牙指示燈：機身上方、FORA 字樣正上方的小圓點</a:t>
            </a:r>
          </a:p>
        </p:txBody>
      </p:sp>
      <p:sp>
        <p:nvSpPr>
          <p:cNvPr id="6" name="Oval 5"/>
          <p:cNvSpPr/>
          <p:nvPr/>
        </p:nvSpPr>
        <p:spPr>
          <a:xfrm>
            <a:off x="1520959" y="1818139"/>
            <a:ext cx="420000" cy="420000"/>
          </a:xfrm>
          <a:prstGeom prst="ellipse">
            <a:avLst/>
          </a:prstGeom>
          <a:noFill/>
          <a:ln w="38100">
            <a:solidFill>
              <a:srgbClr val="009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86200" y="1310000"/>
            <a:ext cx="4800600" cy="98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量測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夾上手指，持續量測</a:t>
            </a:r>
          </a:p>
        </p:txBody>
      </p:sp>
      <p:sp>
        <p:nvSpPr>
          <p:cNvPr id="8" name="Oval 7"/>
          <p:cNvSpPr/>
          <p:nvPr/>
        </p:nvSpPr>
        <p:spPr>
          <a:xfrm>
            <a:off x="4026200" y="1450000"/>
            <a:ext cx="360000" cy="360000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2380000"/>
            <a:ext cx="4800600" cy="98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醫材開始廣播</a:t>
            </a:r>
            <a:endParaRPr sz="13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sz="11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夾上手指後就會持續開啟藍牙（機身藍燈亮起，如左圖</a:t>
            </a:r>
            <a:r>
              <a:rPr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10" name="Oval 9"/>
          <p:cNvSpPr/>
          <p:nvPr/>
        </p:nvSpPr>
        <p:spPr>
          <a:xfrm>
            <a:off x="4026200" y="2520000"/>
            <a:ext cx="360000" cy="360000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3450000"/>
            <a:ext cx="4800600" cy="98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3C8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SmartGateway 自動抓取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持續觀察 30 秒（比照臨床等待讀數穩定的慣例），期間只保留最新數值，滿 30 秒才正式記錄一筆；同一數值 3 分鐘內再量到視為同一筆，不重複記錄</a:t>
            </a:r>
          </a:p>
        </p:txBody>
      </p:sp>
      <p:sp>
        <p:nvSpPr>
          <p:cNvPr id="12" name="Oval 11"/>
          <p:cNvSpPr/>
          <p:nvPr/>
        </p:nvSpPr>
        <p:spPr>
          <a:xfrm>
            <a:off x="4026200" y="3590000"/>
            <a:ext cx="360000" cy="360000"/>
          </a:xfrm>
          <a:prstGeom prst="ellipse">
            <a:avLst/>
          </a:prstGeom>
          <a:solidFill>
            <a:srgbClr val="3C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4520000"/>
            <a:ext cx="4800600" cy="980000"/>
          </a:xfrm>
          <a:prstGeom prst="roundRect">
            <a:avLst/>
          </a:prstGeom>
          <a:solidFill>
            <a:srgbClr val="FFF3E6"/>
          </a:solidFill>
          <a:ln w="2540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記錄完成後</a:t>
            </a:r>
            <a:r>
              <a:rPr sz="13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90 </a:t>
            </a:r>
            <a:r>
              <a:rPr sz="13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秒內不會開始新一輪觀察</a:t>
            </a:r>
            <a:endParaRPr sz="13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sz="11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避免剛記錄完又立刻重新觀察；手指移開後醫材本身也會在約 15 秒內自動關機</a:t>
            </a:r>
            <a:endParaRPr sz="11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4026200" y="4660000"/>
            <a:ext cx="360000" cy="360000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27530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血壓</a:t>
            </a:r>
            <a:r>
              <a:rPr lang="zh-TW" altLang="en-US" dirty="0"/>
              <a:t>血糖</a:t>
            </a:r>
            <a:r>
              <a:rPr dirty="0"/>
              <a:t>計 FORA D40｜藍牙使用須知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200" l="10000" r="90000">
                        <a14:foregroundMark x1="54400" y1="35000" x2="21200" y2="31100"/>
                        <a14:foregroundMark x1="21200" y1="31100" x2="13500" y2="47100"/>
                        <a14:foregroundMark x1="13500" y1="47100" x2="40300" y2="62800"/>
                        <a14:foregroundMark x1="40300" y1="62800" x2="43400" y2="63600"/>
                        <a14:foregroundMark x1="43400" y1="46300" x2="23300" y2="39100"/>
                        <a14:foregroundMark x1="23300" y1="39100" x2="44500" y2="40500"/>
                        <a14:foregroundMark x1="44500" y1="40500" x2="33200" y2="46100"/>
                        <a14:foregroundMark x1="22400" y1="57100" x2="23700" y2="55500"/>
                        <a14:foregroundMark x1="28000" y1="59300" x2="27000" y2="55200"/>
                        <a14:foregroundMark x1="39900" y1="61400" x2="38300" y2="62200"/>
                        <a14:foregroundMark x1="39400" y1="60600" x2="49900" y2="44800"/>
                        <a14:foregroundMark x1="49900" y1="44800" x2="41200" y2="58000"/>
                        <a14:foregroundMark x1="41200" y1="58000" x2="42000" y2="58500"/>
                        <a14:foregroundMark x1="48200" y1="44400" x2="49100" y2="45800"/>
                        <a14:foregroundMark x1="48200" y1="44400" x2="47700" y2="45500"/>
                        <a14:foregroundMark x1="89200" y1="44400" x2="91800" y2="61200"/>
                        <a14:foregroundMark x1="91800" y1="61200" x2="67600" y2="89800"/>
                        <a14:foregroundMark x1="67600" y1="89800" x2="56289" y2="90088"/>
                        <a14:foregroundMark x1="32818" y1="79996" x2="33200" y2="76800"/>
                        <a14:backgroundMark x1="31000" y1="81900" x2="45900" y2="88000"/>
                        <a14:backgroundMark x1="45900" y1="88000" x2="31800" y2="80600"/>
                        <a14:backgroundMark x1="45600" y1="87800" x2="46400" y2="86800"/>
                        <a14:backgroundMark x1="45000" y1="88700" x2="45000" y2="86500"/>
                        <a14:backgroundMark x1="45600" y1="88700" x2="53600" y2="91600"/>
                        <a14:backgroundMark x1="53400" y1="90300" x2="56100" y2="91900"/>
                        <a14:backgroundMark x1="55800" y1="91100" x2="55800" y2="911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200" y="123444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26280"/>
            <a:ext cx="3200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訊號塔圖示：螢幕右上角，醫材型號旁</a:t>
            </a:r>
            <a:endParaRPr sz="12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6" name="Oval 5"/>
          <p:cNvSpPr/>
          <p:nvPr/>
        </p:nvSpPr>
        <p:spPr>
          <a:xfrm flipH="1">
            <a:off x="2859777" y="2400868"/>
            <a:ext cx="265559" cy="265559"/>
          </a:xfrm>
          <a:prstGeom prst="ellipse">
            <a:avLst/>
          </a:prstGeom>
          <a:noFill/>
          <a:ln w="381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86200" y="1310000"/>
            <a:ext cx="4800600" cy="98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量測</a:t>
            </a:r>
            <a:endParaRPr sz="13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lang="zh-TW" altLang="en-US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血壓</a:t>
            </a:r>
            <a:r>
              <a:rPr lang="en-US" altLang="zh-TW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:</a:t>
            </a:r>
            <a:r>
              <a:rPr lang="zh-TW" altLang="en-US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1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完整充放氣量測約</a:t>
            </a:r>
            <a:r>
              <a:rPr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30-45 秒</a:t>
            </a:r>
            <a:endParaRPr lang="en-US" sz="11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lang="zh-TW" altLang="en-US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血糖</a:t>
            </a:r>
            <a:r>
              <a:rPr lang="en-US" altLang="zh-TW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:</a:t>
            </a:r>
            <a:r>
              <a:rPr lang="zh-TW" altLang="en-US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插入試片完成測量</a:t>
            </a:r>
            <a:endParaRPr sz="11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" name="Oval 7"/>
          <p:cNvSpPr/>
          <p:nvPr/>
        </p:nvSpPr>
        <p:spPr>
          <a:xfrm>
            <a:off x="4026200" y="1450000"/>
            <a:ext cx="360000" cy="360000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2380000"/>
            <a:ext cx="4800600" cy="1139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醫材開始廣播</a:t>
            </a:r>
            <a:endParaRPr sz="13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sz="11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量測完成後才會開啟藍牙（螢幕右上角的訊號塔圖示會亮起，如左圖</a:t>
            </a:r>
            <a:r>
              <a:rPr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）</a:t>
            </a:r>
            <a:endParaRPr lang="en-US" sz="11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lang="zh-TW" altLang="en-US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紀錄重送：按一下血壓計的傳輸鍵，免重測即可重新開啟藍牙廣播</a:t>
            </a:r>
            <a:endParaRPr sz="11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026200" y="2520000"/>
            <a:ext cx="360000" cy="360000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3619400"/>
            <a:ext cx="4800600" cy="11982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3C8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SmartGateway</a:t>
            </a:r>
            <a:r>
              <a:rPr sz="13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3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自動抓取</a:t>
            </a:r>
            <a:endParaRPr sz="13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sz="11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SmartGateway</a:t>
            </a:r>
            <a:r>
              <a:rPr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1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在範圍內就會自動連線收下這筆血壓，紀錄的時間是</a:t>
            </a:r>
            <a:r>
              <a:rPr lang="en-US" altLang="zh-TW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:</a:t>
            </a:r>
            <a:r>
              <a:rPr lang="zh-TW" altLang="en-US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</a:t>
            </a:r>
            <a:endParaRPr lang="en-US" sz="11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lang="en-US" altLang="zh-TW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1. </a:t>
            </a:r>
            <a:r>
              <a:rPr lang="zh-TW" altLang="en-US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優先用醫材自己的量測時間</a:t>
            </a:r>
          </a:p>
          <a:p>
            <a:pPr>
              <a:spcBef>
                <a:spcPts val="300"/>
              </a:spcBef>
            </a:pPr>
            <a:r>
              <a:rPr lang="en-US" altLang="zh-TW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2. </a:t>
            </a:r>
            <a:r>
              <a:rPr lang="zh-TW" altLang="en-US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差超過 </a:t>
            </a:r>
            <a:r>
              <a:rPr lang="en-US" altLang="zh-TW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7 </a:t>
            </a:r>
            <a:r>
              <a:rPr lang="zh-TW" altLang="en-US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天，改用</a:t>
            </a:r>
            <a:r>
              <a:rPr lang="en-US" altLang="zh-TW" sz="11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SmartGateway</a:t>
            </a:r>
            <a:r>
              <a:rPr lang="en-US" altLang="zh-TW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zh-TW" altLang="en-US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收到時間；每次連線也會自動校正醫材本身的時鐘</a:t>
            </a:r>
          </a:p>
        </p:txBody>
      </p:sp>
      <p:sp>
        <p:nvSpPr>
          <p:cNvPr id="12" name="Oval 11"/>
          <p:cNvSpPr/>
          <p:nvPr/>
        </p:nvSpPr>
        <p:spPr>
          <a:xfrm>
            <a:off x="4026200" y="3759400"/>
            <a:ext cx="360000" cy="360000"/>
          </a:xfrm>
          <a:prstGeom prst="ellipse">
            <a:avLst/>
          </a:prstGeom>
          <a:solidFill>
            <a:srgbClr val="3C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4918000"/>
            <a:ext cx="4800600" cy="98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C8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醫材約 3 分鐘後自動關機</a:t>
            </a:r>
            <a:endParaRPr sz="13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sz="11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就算這段時間內 SmartGateway 沒連上也不會遺失：醫材會記住，下次 SmartGateway 連線時自動往回補抓回來</a:t>
            </a:r>
            <a:endParaRPr sz="11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4026200" y="5058000"/>
            <a:ext cx="360000" cy="360000"/>
          </a:xfrm>
          <a:prstGeom prst="ellipse">
            <a:avLst/>
          </a:prstGeom>
          <a:solidFill>
            <a:srgbClr val="3C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A61A3295-FB39-3C8A-8950-6CDE5F647B5E}"/>
              </a:ext>
            </a:extLst>
          </p:cNvPr>
          <p:cNvCxnSpPr/>
          <p:nvPr/>
        </p:nvCxnSpPr>
        <p:spPr bwMode="auto">
          <a:xfrm flipH="1" flipV="1">
            <a:off x="3200400" y="2666427"/>
            <a:ext cx="1276350" cy="28632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Oval 5">
            <a:extLst>
              <a:ext uri="{FF2B5EF4-FFF2-40B4-BE49-F238E27FC236}">
                <a16:creationId xmlns:a16="http://schemas.microsoft.com/office/drawing/2014/main" id="{0B9ADF2D-5B90-7F27-F68E-AAFB267261C3}"/>
              </a:ext>
            </a:extLst>
          </p:cNvPr>
          <p:cNvSpPr/>
          <p:nvPr/>
        </p:nvSpPr>
        <p:spPr>
          <a:xfrm flipH="1">
            <a:off x="2335902" y="3600350"/>
            <a:ext cx="265559" cy="265559"/>
          </a:xfrm>
          <a:prstGeom prst="ellipse">
            <a:avLst/>
          </a:prstGeom>
          <a:noFill/>
          <a:ln w="381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19D7305F-3762-2E20-FBDF-66A266FDF60F}"/>
              </a:ext>
            </a:extLst>
          </p:cNvPr>
          <p:cNvCxnSpPr>
            <a:cxnSpLocks/>
          </p:cNvCxnSpPr>
          <p:nvPr/>
        </p:nvCxnSpPr>
        <p:spPr bwMode="auto">
          <a:xfrm flipH="1">
            <a:off x="2635550" y="3329177"/>
            <a:ext cx="1750650" cy="43291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" name="TextBox 3">
            <a:extLst>
              <a:ext uri="{FF2B5EF4-FFF2-40B4-BE49-F238E27FC236}">
                <a16:creationId xmlns:a16="http://schemas.microsoft.com/office/drawing/2014/main" id="{7D73BC5A-46BE-1869-B7D4-A7864ACB35BC}"/>
              </a:ext>
            </a:extLst>
          </p:cNvPr>
          <p:cNvSpPr txBox="1"/>
          <p:nvPr/>
        </p:nvSpPr>
        <p:spPr>
          <a:xfrm>
            <a:off x="457200" y="5073311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藍芽傳輸鍵</a:t>
            </a:r>
            <a:r>
              <a:rPr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：</a:t>
            </a:r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機身</a:t>
            </a:r>
            <a:r>
              <a:rPr lang="zh-TW" altLang="en-US"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下方，訊號塔按鍵</a:t>
            </a:r>
            <a:endParaRPr sz="12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37072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0">
            <a:extLst>
              <a:ext uri="{FF2B5EF4-FFF2-40B4-BE49-F238E27FC236}">
                <a16:creationId xmlns:a16="http://schemas.microsoft.com/office/drawing/2014/main" id="{3D154C54-F4FE-337D-5897-2B4D538D0342}"/>
              </a:ext>
            </a:extLst>
          </p:cNvPr>
          <p:cNvSpPr/>
          <p:nvPr/>
        </p:nvSpPr>
        <p:spPr>
          <a:xfrm>
            <a:off x="3886200" y="3450000"/>
            <a:ext cx="4800600" cy="11982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3C8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SmartGateway</a:t>
            </a:r>
            <a:r>
              <a:rPr sz="13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3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自動抓取</a:t>
            </a:r>
            <a:endParaRPr sz="13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sz="11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SmartGateway</a:t>
            </a:r>
            <a:r>
              <a:rPr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1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在範圍內就會自動連線收下這筆血壓，紀錄的時間是</a:t>
            </a:r>
            <a:r>
              <a:rPr lang="en-US" altLang="zh-TW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:</a:t>
            </a:r>
            <a:r>
              <a:rPr lang="zh-TW" altLang="en-US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</a:t>
            </a:r>
            <a:endParaRPr lang="en-US" sz="11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lang="en-US" altLang="zh-TW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1. </a:t>
            </a:r>
            <a:r>
              <a:rPr lang="zh-TW" altLang="en-US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優先用醫材自己的量測時間</a:t>
            </a:r>
          </a:p>
          <a:p>
            <a:pPr>
              <a:spcBef>
                <a:spcPts val="300"/>
              </a:spcBef>
            </a:pPr>
            <a:r>
              <a:rPr lang="en-US" altLang="zh-TW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2. </a:t>
            </a:r>
            <a:r>
              <a:rPr lang="zh-TW" altLang="en-US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差超過 </a:t>
            </a:r>
            <a:r>
              <a:rPr lang="en-US" altLang="zh-TW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7 </a:t>
            </a:r>
            <a:r>
              <a:rPr lang="zh-TW" altLang="en-US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天，改用</a:t>
            </a:r>
            <a:r>
              <a:rPr lang="en-US" altLang="zh-TW" sz="11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SmartGateway</a:t>
            </a:r>
            <a:r>
              <a:rPr lang="en-US" altLang="zh-TW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zh-TW" altLang="en-US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收到時間；每次連線也會自動校正醫材本身的時鐘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</a:t>
            </a:r>
            <a:r>
              <a:rPr dirty="0"/>
              <a:t>合</a:t>
            </a:r>
            <a:r>
              <a:rPr lang="en-US" altLang="zh-TW" dirty="0"/>
              <a:t>1</a:t>
            </a:r>
            <a:r>
              <a:rPr lang="zh-TW" altLang="en-US" dirty="0"/>
              <a:t>測試系統</a:t>
            </a:r>
            <a:r>
              <a:rPr dirty="0"/>
              <a:t> FORA MD6｜藍牙使用須知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26280"/>
            <a:ext cx="3200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藍牙指示燈：機身上方、FORA</a:t>
            </a:r>
            <a:r>
              <a:rPr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MD6 </a:t>
            </a:r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字樣左邊的小圓點</a:t>
            </a:r>
            <a:endParaRPr sz="12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5" name="Picture 4" descr="FORA-MD6-單機-02-1000x1000-1.pn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200" l="10000" r="92900">
                        <a14:foregroundMark x1="59200" y1="31400" x2="72900" y2="18900"/>
                        <a14:foregroundMark x1="72900" y1="18900" x2="92000" y2="27600"/>
                        <a14:foregroundMark x1="92000" y1="27600" x2="97400" y2="71300"/>
                        <a14:foregroundMark x1="97400" y1="71300" x2="82500" y2="90200"/>
                        <a14:foregroundMark x1="82500" y1="90200" x2="64800" y2="83000"/>
                        <a14:foregroundMark x1="64800" y1="83000" x2="57700" y2="46900"/>
                        <a14:foregroundMark x1="57700" y1="46900" x2="61300" y2="28400"/>
                        <a14:foregroundMark x1="70200" y1="22100" x2="90700" y2="21800"/>
                        <a14:foregroundMark x1="90700" y1="21800" x2="88700" y2="31100"/>
                        <a14:foregroundMark x1="74100" y1="23000" x2="92900" y2="24500"/>
                        <a14:foregroundMark x1="92900" y1="24500" x2="76100" y2="24200"/>
                        <a14:foregroundMark x1="76100" y1="24200" x2="75600" y2="20100"/>
                        <a14:foregroundMark x1="60100" y1="56700" x2="58000" y2="72800"/>
                        <a14:foregroundMark x1="58000" y1="72800" x2="61300" y2="63200"/>
                        <a14:foregroundMark x1="66400" y1="64400" x2="81700" y2="72400"/>
                        <a14:foregroundMark x1="81700" y1="72400" x2="66800" y2="65700"/>
                        <a14:foregroundMark x1="66800" y1="65700" x2="66400" y2="68000"/>
                        <a14:foregroundMark x1="58900" y1="72100" x2="59500" y2="72400"/>
                        <a14:foregroundMark x1="55700" y1="71300" x2="56800" y2="73300"/>
                        <a14:foregroundMark x1="57100" y1="72100" x2="56800" y2="73000"/>
                        <a14:foregroundMark x1="57400" y1="71100" x2="68200" y2="84300"/>
                        <a14:foregroundMark x1="68200" y1="84300" x2="57600" y2="70700"/>
                        <a14:foregroundMark x1="57600" y1="70700" x2="58600" y2="72900"/>
                        <a14:foregroundMark x1="58300" y1="73500" x2="52100" y2="69900"/>
                        <a14:foregroundMark x1="55400" y1="72600" x2="64900" y2="84600"/>
                        <a14:foregroundMark x1="64900" y1="84600" x2="58000" y2="75600"/>
                      </a14:backgroundRemoval>
                    </a14:imgEffect>
                  </a14:imgLayer>
                </a14:imgProps>
              </a:ext>
            </a:extLst>
          </a:blip>
          <a:srcRect l="48214"/>
          <a:stretch/>
        </p:blipFill>
        <p:spPr>
          <a:xfrm>
            <a:off x="1678554" y="1239565"/>
            <a:ext cx="1657350" cy="32004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076172" y="1916075"/>
            <a:ext cx="420000" cy="420000"/>
          </a:xfrm>
          <a:prstGeom prst="ellipse">
            <a:avLst/>
          </a:prstGeom>
          <a:noFill/>
          <a:ln w="38100">
            <a:solidFill>
              <a:srgbClr val="009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86200" y="1310000"/>
            <a:ext cx="4800600" cy="98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量測</a:t>
            </a:r>
            <a:endParaRPr sz="13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sz="11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插入試片完成測量（血糖／HCT／酮體／尿酸／膽固醇／血紅素其中一項</a:t>
            </a:r>
            <a:r>
              <a:rPr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8" name="Oval 7"/>
          <p:cNvSpPr/>
          <p:nvPr/>
        </p:nvSpPr>
        <p:spPr>
          <a:xfrm>
            <a:off x="4026200" y="1450000"/>
            <a:ext cx="360000" cy="360000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2380000"/>
            <a:ext cx="4800600" cy="98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醫材開始廣播</a:t>
            </a:r>
            <a:endParaRPr sz="13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sz="11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量測完成後才會開啟藍牙（機身藍燈亮起，如左圖</a:t>
            </a:r>
            <a:r>
              <a:rPr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）</a:t>
            </a:r>
            <a:endParaRPr lang="en-US" sz="11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lang="zh-TW" altLang="en-US"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紀錄重送：拉一下醫材的傳輸鍵，免重測即可重新開啟藍牙廣播</a:t>
            </a:r>
          </a:p>
        </p:txBody>
      </p:sp>
      <p:sp>
        <p:nvSpPr>
          <p:cNvPr id="10" name="Oval 9"/>
          <p:cNvSpPr/>
          <p:nvPr/>
        </p:nvSpPr>
        <p:spPr>
          <a:xfrm>
            <a:off x="4026200" y="2520000"/>
            <a:ext cx="360000" cy="360000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4026200" y="3590000"/>
            <a:ext cx="360000" cy="360000"/>
          </a:xfrm>
          <a:prstGeom prst="ellipse">
            <a:avLst/>
          </a:prstGeom>
          <a:solidFill>
            <a:srgbClr val="3C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4788200"/>
            <a:ext cx="4800600" cy="98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C8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資料傳完後自動關機</a:t>
            </a:r>
            <a:endParaRPr sz="13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sz="11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抓到資料、傳輸完成後醫材就會自動關閉，不用等固定時間；就算一直沒連上也不會遺失，下次連線時會自動往回補抓，但建議盡快讓 SmartGateway 在範圍內</a:t>
            </a:r>
          </a:p>
        </p:txBody>
      </p:sp>
      <p:sp>
        <p:nvSpPr>
          <p:cNvPr id="14" name="Oval 13"/>
          <p:cNvSpPr/>
          <p:nvPr/>
        </p:nvSpPr>
        <p:spPr>
          <a:xfrm>
            <a:off x="4026200" y="4928200"/>
            <a:ext cx="360000" cy="360000"/>
          </a:xfrm>
          <a:prstGeom prst="ellipse">
            <a:avLst/>
          </a:prstGeom>
          <a:solidFill>
            <a:srgbClr val="3C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F293839B-0C76-5405-81A5-EC98BA55F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03" y="1807675"/>
            <a:ext cx="999105" cy="2296450"/>
          </a:xfrm>
          <a:prstGeom prst="rect">
            <a:avLst/>
          </a:prstGeom>
        </p:spPr>
      </p:pic>
      <p:sp>
        <p:nvSpPr>
          <p:cNvPr id="20" name="Oval 5">
            <a:extLst>
              <a:ext uri="{FF2B5EF4-FFF2-40B4-BE49-F238E27FC236}">
                <a16:creationId xmlns:a16="http://schemas.microsoft.com/office/drawing/2014/main" id="{0DEDACF8-912A-FE7C-E022-7D8E3FFBCCC1}"/>
              </a:ext>
            </a:extLst>
          </p:cNvPr>
          <p:cNvSpPr/>
          <p:nvPr/>
        </p:nvSpPr>
        <p:spPr>
          <a:xfrm>
            <a:off x="996555" y="2825415"/>
            <a:ext cx="420000" cy="420000"/>
          </a:xfrm>
          <a:prstGeom prst="ellipse">
            <a:avLst/>
          </a:prstGeom>
          <a:noFill/>
          <a:ln w="38100">
            <a:solidFill>
              <a:srgbClr val="009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1210FAAE-FA19-A94D-957A-6FF8E97D3FB6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556555" y="3110000"/>
            <a:ext cx="2750900" cy="5708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9FE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8EE2A758-4173-E1C1-B00B-B896CB42A1B7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581275" y="2207401"/>
            <a:ext cx="1726180" cy="74086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9FE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" name="TextBox 3">
            <a:extLst>
              <a:ext uri="{FF2B5EF4-FFF2-40B4-BE49-F238E27FC236}">
                <a16:creationId xmlns:a16="http://schemas.microsoft.com/office/drawing/2014/main" id="{18488E16-726D-0036-6A80-A552542E85E9}"/>
              </a:ext>
            </a:extLst>
          </p:cNvPr>
          <p:cNvSpPr txBox="1"/>
          <p:nvPr/>
        </p:nvSpPr>
        <p:spPr>
          <a:xfrm>
            <a:off x="457200" y="5073311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藍芽傳輸鍵</a:t>
            </a:r>
            <a:r>
              <a:rPr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：</a:t>
            </a:r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機身</a:t>
            </a:r>
            <a:r>
              <a:rPr lang="zh-TW" altLang="en-US"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左側</a:t>
            </a:r>
            <a:r>
              <a:rPr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、</a:t>
            </a:r>
            <a:r>
              <a:rPr lang="zh-TW" altLang="en-US"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滑動開關</a:t>
            </a:r>
            <a:endParaRPr sz="12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73561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RIGHTEST GM700SB｜藍牙使用須知</a:t>
            </a:r>
          </a:p>
        </p:txBody>
      </p:sp>
      <p:pic>
        <p:nvPicPr>
          <p:cNvPr id="3" name="Picture 2" descr="images (3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82" y="1234440"/>
            <a:ext cx="2244436" cy="32004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166140" y="2195429"/>
            <a:ext cx="360000" cy="360000"/>
          </a:xfrm>
          <a:prstGeom prst="ellipse">
            <a:avLst/>
          </a:prstGeom>
          <a:noFill/>
          <a:ln w="38100">
            <a:solidFill>
              <a:srgbClr val="009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494840"/>
            <a:ext cx="32004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藍牙圖示：螢幕左側、mem 字樣下方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6200" y="1234440"/>
            <a:ext cx="4800600" cy="87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00000" rIns="160000" rtlCol="0" anchor="ctr"/>
          <a:lstStyle/>
          <a:p>
            <a:pPr algn="ctr"/>
            <a:r>
              <a:rPr sz="12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量測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插入試片完成血糖測量</a:t>
            </a:r>
          </a:p>
        </p:txBody>
      </p:sp>
      <p:sp>
        <p:nvSpPr>
          <p:cNvPr id="7" name="Oval 6"/>
          <p:cNvSpPr/>
          <p:nvPr/>
        </p:nvSpPr>
        <p:spPr>
          <a:xfrm>
            <a:off x="4016200" y="1364440"/>
            <a:ext cx="340000" cy="340000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2184440"/>
            <a:ext cx="4800600" cy="87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00000" rIns="160000" rtlCol="0" anchor="ctr"/>
          <a:lstStyle/>
          <a:p>
            <a:pPr algn="ctr"/>
            <a:r>
              <a:rPr sz="125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開啟同步視窗</a:t>
            </a:r>
            <a:endParaRPr sz="125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sz="10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在 SmartGateway 上短按中鍵，開啟 30 秒搜尋視窗</a:t>
            </a:r>
            <a:endParaRPr lang="en-US" sz="105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sz="1050" b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這台醫材不會自動連線，一定要主動短按中鍵</a:t>
            </a:r>
            <a:endParaRPr sz="1050" b="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9" name="Oval 8"/>
          <p:cNvSpPr/>
          <p:nvPr/>
        </p:nvSpPr>
        <p:spPr>
          <a:xfrm>
            <a:off x="4016200" y="2314440"/>
            <a:ext cx="340000" cy="340000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3134440"/>
            <a:ext cx="4800600" cy="870000"/>
          </a:xfrm>
          <a:prstGeom prst="roundRect">
            <a:avLst/>
          </a:prstGeom>
          <a:solidFill>
            <a:srgbClr val="FFF3E6"/>
          </a:solidFill>
          <a:ln w="2540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00000" rIns="160000" rtlCol="0" anchor="ctr"/>
          <a:lstStyle/>
          <a:p>
            <a:pPr algn="ctr"/>
            <a:r>
              <a:rPr sz="12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首次配對需在血糖機上按鍵確認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第一次連線時，血糖機螢幕會出現配對確認畫面，需要在血糖機本身按鍵確認；配對過一次後，之後不用再重複</a:t>
            </a:r>
          </a:p>
        </p:txBody>
      </p:sp>
      <p:sp>
        <p:nvSpPr>
          <p:cNvPr id="11" name="Oval 10"/>
          <p:cNvSpPr/>
          <p:nvPr/>
        </p:nvSpPr>
        <p:spPr>
          <a:xfrm>
            <a:off x="4016200" y="3264440"/>
            <a:ext cx="340000" cy="340000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4084440"/>
            <a:ext cx="4800600" cy="87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3C8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00000" rIns="160000" rtlCol="0" anchor="ctr"/>
          <a:lstStyle/>
          <a:p>
            <a:pPr algn="ctr"/>
            <a:r>
              <a:rPr sz="125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SmartGateway 自動抓取</a:t>
            </a:r>
            <a:endParaRPr sz="125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sz="10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30 秒視窗內掃到醫材就會自動連線收下血糖值，紀錄的時間是實際量測當下，不是連線當下；同步時也會自動把血糖機時鐘校正成 SmartGateway 目前時間</a:t>
            </a:r>
          </a:p>
        </p:txBody>
      </p:sp>
      <p:sp>
        <p:nvSpPr>
          <p:cNvPr id="13" name="Oval 12"/>
          <p:cNvSpPr/>
          <p:nvPr/>
        </p:nvSpPr>
        <p:spPr>
          <a:xfrm>
            <a:off x="4016200" y="4214440"/>
            <a:ext cx="340000" cy="340000"/>
          </a:xfrm>
          <a:prstGeom prst="ellipse">
            <a:avLst/>
          </a:prstGeom>
          <a:solidFill>
            <a:srgbClr val="3C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5034440"/>
            <a:ext cx="4800600" cy="87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C8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00000" rIns="160000" rtlCol="0" anchor="ctr"/>
          <a:lstStyle/>
          <a:p>
            <a:pPr algn="ctr"/>
            <a:r>
              <a:rPr sz="12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30 秒沒掃到就要重新按一次中鍵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視窗過期會自動恢復忽略，不會一直嘗試連線；就算沒有立刻抓到也不會遺失，下次同步時會自動補抓</a:t>
            </a:r>
          </a:p>
        </p:txBody>
      </p:sp>
      <p:sp>
        <p:nvSpPr>
          <p:cNvPr id="15" name="Oval 14"/>
          <p:cNvSpPr/>
          <p:nvPr/>
        </p:nvSpPr>
        <p:spPr>
          <a:xfrm>
            <a:off x="4016200" y="5164440"/>
            <a:ext cx="340000" cy="340000"/>
          </a:xfrm>
          <a:prstGeom prst="ellipse">
            <a:avLst/>
          </a:prstGeom>
          <a:solidFill>
            <a:srgbClr val="3C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16" name="星形: 四角 15">
            <a:extLst>
              <a:ext uri="{FF2B5EF4-FFF2-40B4-BE49-F238E27FC236}">
                <a16:creationId xmlns:a16="http://schemas.microsoft.com/office/drawing/2014/main" id="{EDB308C7-B6E6-49D4-EA35-C99C0400776C}"/>
              </a:ext>
            </a:extLst>
          </p:cNvPr>
          <p:cNvSpPr/>
          <p:nvPr/>
        </p:nvSpPr>
        <p:spPr bwMode="auto">
          <a:xfrm>
            <a:off x="4077659" y="2716543"/>
            <a:ext cx="295794" cy="295794"/>
          </a:xfrm>
          <a:prstGeom prst="star4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2447E3E8-465C-1D7D-A0E3-6E7DF97CA772}"/>
              </a:ext>
            </a:extLst>
          </p:cNvPr>
          <p:cNvSpPr txBox="1"/>
          <p:nvPr/>
        </p:nvSpPr>
        <p:spPr>
          <a:xfrm>
            <a:off x="698740" y="5149165"/>
            <a:ext cx="2656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34349"/>
                </a:solidFill>
                <a:latin typeface="微軟正黑體"/>
                <a:ea typeface="微軟正黑體"/>
                <a:cs typeface="微軟正黑體"/>
              </a:rPr>
              <a:t>頂面：三顆按鍵</a:t>
            </a:r>
          </a:p>
        </p:txBody>
      </p:sp>
      <p:pic>
        <p:nvPicPr>
          <p:cNvPr id="18" name="Picture 4" descr="device_face_top.png">
            <a:extLst>
              <a:ext uri="{FF2B5EF4-FFF2-40B4-BE49-F238E27FC236}">
                <a16:creationId xmlns:a16="http://schemas.microsoft.com/office/drawing/2014/main" id="{EE34856F-BCC8-4F2D-A357-8ACAB9AEF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40" y="5500974"/>
            <a:ext cx="2656936" cy="796315"/>
          </a:xfrm>
          <a:prstGeom prst="rect">
            <a:avLst/>
          </a:prstGeom>
        </p:spPr>
      </p:pic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42B83E3-718A-59E0-A401-70A2B2D41C8E}"/>
              </a:ext>
            </a:extLst>
          </p:cNvPr>
          <p:cNvCxnSpPr/>
          <p:nvPr/>
        </p:nvCxnSpPr>
        <p:spPr bwMode="auto">
          <a:xfrm flipH="1">
            <a:off x="2199736" y="3012337"/>
            <a:ext cx="1986464" cy="273285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微軟正黑體"/>
                <a:ea typeface="微軟正黑體"/>
                <a:cs typeface="微軟正黑體"/>
              </a:rPr>
              <a:t>上傳畫面</a:t>
            </a:r>
            <a:r>
              <a:rPr lang="en-US" altLang="zh-TW" dirty="0"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dirty="0">
                <a:latin typeface="微軟正黑體"/>
                <a:ea typeface="微軟正黑體"/>
                <a:cs typeface="微軟正黑體"/>
              </a:rPr>
              <a:t>長按中鍵 3 秒嘗試重新上傳</a:t>
            </a:r>
            <a:r>
              <a:rPr lang="en-US" altLang="zh-TW" dirty="0">
                <a:latin typeface="微軟正黑體"/>
                <a:ea typeface="微軟正黑體"/>
                <a:cs typeface="微軟正黑體"/>
              </a:rPr>
              <a:t>)</a:t>
            </a:r>
            <a:endParaRPr dirty="0"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3" name="Picture 2" descr="screen_upload_connec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33622"/>
            <a:ext cx="2651760" cy="1310596"/>
          </a:xfrm>
          <a:prstGeom prst="rect">
            <a:avLst/>
          </a:prstGeom>
        </p:spPr>
      </p:pic>
      <p:pic>
        <p:nvPicPr>
          <p:cNvPr id="10" name="Picture 9" descr="screen_upload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133622"/>
            <a:ext cx="2651760" cy="1310596"/>
          </a:xfrm>
          <a:prstGeom prst="rect">
            <a:avLst/>
          </a:prstGeom>
        </p:spPr>
      </p:pic>
      <p:pic>
        <p:nvPicPr>
          <p:cNvPr id="11" name="Picture 10" descr="screen_err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133622"/>
            <a:ext cx="2651760" cy="13105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434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連線中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4434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上傳完成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434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連線失敗（ERROR 畫面）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8229600" cy="1259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sz="14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SmartGateway 每次連線都會經過這三種狀態</a:t>
            </a:r>
          </a:p>
          <a:p>
            <a:pPr>
              <a:spcAft>
                <a:spcPts val="800"/>
              </a:spcAft>
              <a:buNone/>
            </a:pPr>
            <a:r>
              <a:rPr sz="11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</a:t>
            </a:r>
            <a:r>
              <a:rPr sz="11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連線中</a:t>
            </a:r>
            <a:r>
              <a:rPr sz="11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→ </a:t>
            </a:r>
            <a:r>
              <a:rPr sz="11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送出資料</a:t>
            </a:r>
            <a:r>
              <a:rPr sz="11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→ </a:t>
            </a:r>
            <a:r>
              <a:rPr sz="11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顯示結果；WiFi</a:t>
            </a:r>
            <a:r>
              <a:rPr sz="11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1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連不上會改顯示黑底反白的</a:t>
            </a:r>
            <a:r>
              <a:rPr sz="11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ERROR </a:t>
            </a:r>
            <a:r>
              <a:rPr sz="11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畫面</a:t>
            </a:r>
            <a:endParaRPr sz="115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400"/>
              </a:spcAft>
              <a:buNone/>
            </a:pPr>
            <a:r>
              <a:rPr sz="14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</a:t>
            </a:r>
            <a:r>
              <a:rPr sz="14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失敗不會遺失資料</a:t>
            </a:r>
            <a:endParaRPr sz="14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800"/>
              </a:spcAft>
              <a:buNone/>
            </a:pPr>
            <a:r>
              <a:rPr sz="11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</a:t>
            </a:r>
            <a:r>
              <a:rPr sz="11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待傳紀錄會保留</a:t>
            </a:r>
            <a:r>
              <a:rPr lang="zh-TW" altLang="en-US" sz="115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，容量最多</a:t>
            </a:r>
            <a:r>
              <a:rPr lang="en-US" altLang="zh-TW" sz="115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640</a:t>
            </a:r>
            <a:r>
              <a:rPr lang="zh-TW" altLang="en-US" sz="115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筆</a:t>
            </a:r>
            <a:r>
              <a:rPr sz="11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；</a:t>
            </a:r>
            <a:r>
              <a:rPr sz="11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每次連線嘗試最長約</a:t>
            </a:r>
            <a:r>
              <a:rPr sz="11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1 </a:t>
            </a:r>
            <a:r>
              <a:rPr sz="11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分鐘，失敗後約</a:t>
            </a:r>
            <a:r>
              <a:rPr sz="11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1 </a:t>
            </a:r>
            <a:r>
              <a:rPr sz="11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小時會自動重試一次，也可以長按中鍵</a:t>
            </a:r>
            <a:r>
              <a:rPr sz="11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3 </a:t>
            </a:r>
            <a:r>
              <a:rPr sz="11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秒立即重試</a:t>
            </a:r>
            <a:endParaRPr sz="115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紀錄頁面（右鍵）</a:t>
            </a:r>
          </a:p>
        </p:txBody>
      </p:sp>
      <p:pic>
        <p:nvPicPr>
          <p:cNvPr id="3" name="Picture 2" descr="screen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5077"/>
            <a:ext cx="5120640" cy="25308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234440"/>
            <a:ext cx="2926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  按右鍵顯示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尚未上傳成功的紀錄（排隊中／上次失敗待重試）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  「.」＝排隊等待上傳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「!」＝上次上傳失敗、會自動重試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  筆數多會分頁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再按一次右鍵翻下一頁；翻到最後一頁再按會回到第 1 頁；8 秒沒動作自動跳回常駐畫面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C8C80"/>
                </a:solidFill>
                <a:latin typeface="微軟正黑體"/>
                <a:ea typeface="微軟正黑體"/>
                <a:cs typeface="微軟正黑體"/>
              </a:rPr>
              <a:t>四　疑難排解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資料安全性、常見問題、何時該找技術人員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buNone/>
            </a:pPr>
            <a:r>
              <a:rPr sz="19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資料先存 SmartGateway，不會遺失</a:t>
            </a:r>
          </a:p>
          <a:p>
            <a:pPr>
              <a:spcAft>
                <a:spcPts val="1600"/>
              </a:spcAft>
              <a:buNone/>
            </a:pPr>
            <a:r>
              <a:rPr sz="14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</a:t>
            </a:r>
            <a:r>
              <a:rPr sz="14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斷電也不影響，恢復供電後自動補傳</a:t>
            </a:r>
            <a:endParaRPr sz="145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400"/>
              </a:spcAft>
              <a:buNone/>
            </a:pPr>
            <a:r>
              <a:rPr sz="19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</a:t>
            </a:r>
            <a:r>
              <a:rPr sz="19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上傳失敗自動重試</a:t>
            </a:r>
            <a:endParaRPr sz="19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1600"/>
              </a:spcAft>
              <a:buNone/>
            </a:pPr>
            <a:r>
              <a:rPr sz="14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</a:t>
            </a:r>
            <a:r>
              <a:rPr sz="14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不需要人工處理</a:t>
            </a:r>
            <a:endParaRPr sz="145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400"/>
              </a:spcAft>
              <a:buNone/>
            </a:pPr>
            <a:r>
              <a:rPr sz="19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</a:t>
            </a:r>
            <a:r>
              <a:rPr sz="19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右鍵查看待上傳紀錄</a:t>
            </a:r>
            <a:endParaRPr sz="19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1600"/>
              </a:spcAft>
              <a:buNone/>
            </a:pPr>
            <a:r>
              <a:rPr sz="14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</a:t>
            </a:r>
            <a:r>
              <a:rPr sz="14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排隊中／上次失敗待重試的都看得到</a:t>
            </a:r>
            <a:endParaRPr sz="145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400"/>
              </a:spcAft>
              <a:buNone/>
            </a:pPr>
            <a:r>
              <a:rPr sz="19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</a:t>
            </a:r>
            <a:r>
              <a:rPr sz="19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待傳佇列上限</a:t>
            </a:r>
            <a:r>
              <a:rPr sz="19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19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640</a:t>
            </a:r>
            <a:r>
              <a:rPr sz="19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筆</a:t>
            </a:r>
          </a:p>
          <a:p>
            <a:pPr>
              <a:spcAft>
                <a:spcPts val="1600"/>
              </a:spcAft>
              <a:buNone/>
            </a:pPr>
            <a:r>
              <a:rPr sz="14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</a:t>
            </a:r>
            <a:r>
              <a:rPr sz="14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長時間斷網若累積超過上限，新讀值會被捨棄（不是取代最舊的</a:t>
            </a:r>
            <a:r>
              <a:rPr sz="14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  <a:p>
            <a:pPr>
              <a:spcAft>
                <a:spcPts val="400"/>
              </a:spcAft>
              <a:buNone/>
            </a:pPr>
            <a:r>
              <a:rPr sz="1900" b="1" dirty="0">
                <a:solidFill>
                  <a:srgbClr val="B85C5C"/>
                </a:solidFill>
                <a:latin typeface="微軟正黑體"/>
                <a:ea typeface="微軟正黑體"/>
                <a:cs typeface="微軟正黑體"/>
              </a:rPr>
              <a:t>•  重新通電時按住右鍵可以清空重來</a:t>
            </a:r>
          </a:p>
          <a:p>
            <a:pPr>
              <a:spcAft>
                <a:spcPts val="1600"/>
              </a:spcAft>
              <a:buNone/>
            </a:pPr>
            <a:r>
              <a:rPr sz="14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這是唯一會清除資料的操作，其他情況都不會遺失；會連 Wi-Fi、個案編號等設定一起清空，跟全新裝置一樣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微軟正黑體"/>
                <a:ea typeface="微軟正黑體"/>
                <a:cs typeface="微軟正黑體"/>
              </a:rPr>
              <a:t>資料安全性</a:t>
            </a:r>
            <a:endParaRPr dirty="0">
              <a:latin typeface="微軟正黑體"/>
              <a:ea typeface="微軟正黑體"/>
              <a:cs typeface="微軟正黑體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常見問題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272793"/>
              </p:ext>
            </p:extLst>
          </p:nvPr>
        </p:nvGraphicFramePr>
        <p:xfrm>
          <a:off x="457200" y="1234440"/>
          <a:ext cx="8229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問題</a:t>
                      </a:r>
                    </a:p>
                  </a:txBody>
                  <a:tcPr anchor="ctr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說明</a:t>
                      </a:r>
                    </a:p>
                  </a:txBody>
                  <a:tcPr anchor="ctr"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螢幕數值沒更新？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確認醫材藍牙開啟、電池足夠。同一台醫材量測後需要等一段時間（額溫槍約1分鐘、血壓計約3分鐘）才會再連線；血糖機 GM700SB 不會自動連線，每次都要在 SmartGateway 上短按中鍵開啟 30 秒搜尋視窗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螢幕顯示「unsynced」？</a:t>
                      </a:r>
                    </a:p>
                  </a:txBody>
                  <a:tcPr marL="101600" marR="101600" anchor="ctr"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還沒對時成功，時間改用「幾分鐘前」表示；WiFi 正常的話每 5 分鐘自動重試校時，WiFi 本身連不上的話，會跟上面「待傳筆數」那則一樣改成約 1 小時重試一次</a:t>
                      </a:r>
                    </a:p>
                  </a:txBody>
                  <a:tcPr marL="101600" marR="101600" anchor="ctr">
                    <a:solidFill>
                      <a:srgbClr val="DA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待傳筆數一直增加？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通常是 WiFi 連不上——螢幕會顯示「WiFi connect failed, will retry」，每次嘗試最長約 1 分鐘就會放棄；放棄後約 1 小時才會自動再試一次，避免一直做白工佔用量測時間；想立刻重試可長按中鍵 3 秒，持續失敗請確認密碼是否正確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螢幕像當機？</a:t>
                      </a:r>
                    </a:p>
                  </a:txBody>
                  <a:tcPr marL="101600" marR="101600" anchor="ctr"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螢幕最長每 180 秒（3 分鐘）就會自動更新一次，可觀察畫面上的時間有沒有在動</a:t>
                      </a:r>
                    </a:p>
                  </a:txBody>
                  <a:tcPr marL="101600" marR="101600" anchor="ctr">
                    <a:solidFill>
                      <a:srgbClr val="DA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開機顯示 QR code 設定畫面？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正常，每次開機都會先顯示，不理它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 3 </a:t>
                      </a:r>
                      <a:r>
                        <a:rPr sz="1100" b="0" dirty="0" err="1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分鐘後自動跳過</a:t>
                      </a:r>
                      <a:r>
                        <a:rPr lang="zh-TW" altLang="en-US" sz="1100" b="0" dirty="0">
                          <a:solidFill>
                            <a:srgbClr val="333333"/>
                          </a:solidFill>
                          <a:latin typeface="微軟正黑體"/>
                          <a:ea typeface="+mn-ea"/>
                          <a:cs typeface="微軟正黑體"/>
                        </a:rPr>
                        <a:t>。短按左鍵也能用來跳過開機的 </a:t>
                      </a:r>
                      <a:r>
                        <a:rPr lang="en-US" altLang="zh-TW" sz="1100" b="0" dirty="0">
                          <a:solidFill>
                            <a:srgbClr val="333333"/>
                          </a:solidFill>
                          <a:latin typeface="微軟正黑體"/>
                          <a:ea typeface="+mn-ea"/>
                          <a:cs typeface="微軟正黑體"/>
                        </a:rPr>
                        <a:t>3 </a:t>
                      </a:r>
                      <a:r>
                        <a:rPr lang="zh-TW" altLang="en-US" sz="1100" b="0" dirty="0">
                          <a:solidFill>
                            <a:srgbClr val="333333"/>
                          </a:solidFill>
                          <a:latin typeface="微軟正黑體"/>
                          <a:ea typeface="+mn-ea"/>
                          <a:cs typeface="微軟正黑體"/>
                        </a:rPr>
                        <a:t>分鐘等待</a:t>
                      </a:r>
                      <a:endParaRPr sz="1100" b="0" dirty="0">
                        <a:solidFill>
                          <a:srgbClr val="333333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600"/>
              </a:spcAft>
              <a:buNone/>
            </a:pPr>
            <a:r>
              <a:rPr sz="19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</a:t>
            </a:r>
            <a:r>
              <a:rPr sz="19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螢幕持續顯示錯誤訊息</a:t>
            </a:r>
            <a:endParaRPr sz="19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400"/>
              </a:spcAft>
              <a:buNone/>
            </a:pPr>
            <a:r>
              <a:rPr sz="19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</a:t>
            </a:r>
            <a:r>
              <a:rPr sz="19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依常見問題處理後仍無法上傳</a:t>
            </a:r>
            <a:endParaRPr sz="19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1600"/>
              </a:spcAft>
              <a:buNone/>
            </a:pPr>
            <a:r>
              <a:rPr sz="14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</a:t>
            </a:r>
            <a:r>
              <a:rPr sz="14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或待傳筆數持續增加超過</a:t>
            </a:r>
            <a:r>
              <a:rPr lang="zh-TW" altLang="en-US" sz="14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七</a:t>
            </a:r>
            <a:r>
              <a:rPr sz="14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天</a:t>
            </a:r>
          </a:p>
          <a:p>
            <a:pPr>
              <a:spcAft>
                <a:spcPts val="400"/>
              </a:spcAft>
              <a:buNone/>
            </a:pPr>
            <a:r>
              <a:rPr sz="19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</a:t>
            </a:r>
            <a:r>
              <a:rPr sz="19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螢幕或按鍵完全沒反應</a:t>
            </a:r>
            <a:endParaRPr sz="19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1600"/>
              </a:spcAft>
              <a:buNone/>
            </a:pPr>
            <a:r>
              <a:rPr sz="14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</a:t>
            </a:r>
            <a:r>
              <a:rPr sz="14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已確認電源線插好的前提下</a:t>
            </a:r>
            <a:endParaRPr sz="14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1600"/>
              </a:spcAft>
              <a:buNone/>
            </a:pPr>
            <a:r>
              <a:rPr sz="19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</a:t>
            </a:r>
            <a:r>
              <a:rPr sz="19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懷疑外殼、螢幕、按鍵實體損壞</a:t>
            </a:r>
            <a:endParaRPr sz="19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這些情況請聯絡技術人員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簡報內頁">
  <a:themeElements>
    <a:clrScheme name="簡報內頁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簡報內頁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簡報內頁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10205</TotalTime>
  <Words>1385</Words>
  <Application>Microsoft Office PowerPoint</Application>
  <PresentationFormat>如螢幕大小 (4:3)</PresentationFormat>
  <Paragraphs>310</Paragraphs>
  <Slides>26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0" baseType="lpstr">
      <vt:lpstr>微軟正黑體</vt:lpstr>
      <vt:lpstr>Arial</vt:lpstr>
      <vt:lpstr>Calibri</vt:lpstr>
      <vt:lpstr>簡報內頁</vt:lpstr>
      <vt:lpstr>SmartGateway 操作說明</vt:lpstr>
      <vt:lpstr>目錄</vt:lpstr>
      <vt:lpstr>一　認識 SmartGateway</vt:lpstr>
      <vt:lpstr>這台 SmartGateway 能做什麼</vt:lpstr>
      <vt:lpstr>支援的量測醫材</vt:lpstr>
      <vt:lpstr>SmartGateway 外觀</vt:lpstr>
      <vt:lpstr>二　設定 SmartGateway</vt:lpstr>
      <vt:lpstr>何時需要設定</vt:lpstr>
      <vt:lpstr>設定五步驟</vt:lpstr>
      <vt:lpstr>設定畫面與掃碼（對應步驟 2-3）</vt:lpstr>
      <vt:lpstr>設定表單欄位（對應步驟 4）</vt:lpstr>
      <vt:lpstr>三　日常使用</vt:lpstr>
      <vt:lpstr>全自動三步驟</vt:lpstr>
      <vt:lpstr>螢幕四種畫面總覽</vt:lpstr>
      <vt:lpstr>日常量測</vt:lpstr>
      <vt:lpstr>額溫槍 FORA IR42｜藍牙使用須知</vt:lpstr>
      <vt:lpstr>血氧計 FORA O2｜藍牙使用須知</vt:lpstr>
      <vt:lpstr>血壓血糖計 FORA D40｜藍牙使用須知</vt:lpstr>
      <vt:lpstr>6合1測試系統 FORA MD6｜藍牙使用須知</vt:lpstr>
      <vt:lpstr>RIGHTEST GM700SB｜藍牙使用須知</vt:lpstr>
      <vt:lpstr>上傳畫面(長按中鍵 3 秒嘗試重新上傳)</vt:lpstr>
      <vt:lpstr>紀錄頁面（右鍵）</vt:lpstr>
      <vt:lpstr>四　疑難排解</vt:lpstr>
      <vt:lpstr>資料安全性</vt:lpstr>
      <vt:lpstr>常見問題</vt:lpstr>
      <vt:lpstr>這些情況請聯絡技術人員</vt:lpstr>
    </vt:vector>
  </TitlesOfParts>
  <Company>TAS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ITRI投影片範本B</dc:title>
  <dc:creator>ITRI</dc:creator>
  <cp:keywords>2008NewCIS</cp:keywords>
  <cp:lastModifiedBy>詹文孔</cp:lastModifiedBy>
  <cp:revision>128</cp:revision>
  <dcterms:created xsi:type="dcterms:W3CDTF">2008-05-08T04:38:45Z</dcterms:created>
  <dcterms:modified xsi:type="dcterms:W3CDTF">2026-09-23T07:21:26Z</dcterms:modified>
</cp:coreProperties>
</file>
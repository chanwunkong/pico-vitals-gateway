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63" r:id="rId16"/>
    <p:sldId id="280" r:id="rId17"/>
    <p:sldId id="281" r:id="rId18"/>
    <p:sldId id="282" r:id="rId19"/>
    <p:sldId id="283" r:id="rId20"/>
    <p:sldId id="284" r:id="rId21"/>
    <p:sldId id="273" r:id="rId22"/>
    <p:sldId id="274" r:id="rId23"/>
    <p:sldId id="275" r:id="rId24"/>
    <p:sldId id="276" r:id="rId25"/>
    <p:sldId id="277" r:id="rId26"/>
    <p:sldId id="278" r:id="rId27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2B3"/>
    <a:srgbClr val="5FB990"/>
    <a:srgbClr val="87CAAC"/>
    <a:srgbClr val="12B3C4"/>
    <a:srgbClr val="FF6600"/>
    <a:srgbClr val="FF0000"/>
    <a:srgbClr val="28AECF"/>
    <a:srgbClr val="13C3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84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0" y="9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-3648" y="-10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6650701-39C2-4C39-B774-AC0ACA9B57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1597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5D6E0B5-C9D1-4321-9F3E-3F5A2FCA6E31}" type="datetimeFigureOut">
              <a:rPr lang="zh-TW" altLang="en-US"/>
              <a:pPr>
                <a:defRPr/>
              </a:pPr>
              <a:t>2026/9/1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6D86CCB-8F76-4AE6-907E-95309338C67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3689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7"/>
          <p:cNvSpPr>
            <a:spLocks noChangeArrowheads="1"/>
          </p:cNvSpPr>
          <p:nvPr userDrawn="1"/>
        </p:nvSpPr>
        <p:spPr bwMode="auto">
          <a:xfrm>
            <a:off x="0" y="6618288"/>
            <a:ext cx="9144000" cy="239712"/>
          </a:xfrm>
          <a:prstGeom prst="rect">
            <a:avLst/>
          </a:prstGeom>
          <a:solidFill>
            <a:srgbClr val="009F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30741" name="Rectangle 2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46140" y="2584703"/>
            <a:ext cx="6596065" cy="1219201"/>
          </a:xfrm>
        </p:spPr>
        <p:txBody>
          <a:bodyPr anchor="t" anchorCtr="0"/>
          <a:lstStyle>
            <a:lvl1pPr>
              <a:defRPr sz="4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簡報標題</a:t>
            </a:r>
          </a:p>
        </p:txBody>
      </p:sp>
      <p:sp>
        <p:nvSpPr>
          <p:cNvPr id="30742" name="Rectangle 2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46141" y="5059680"/>
            <a:ext cx="6770872" cy="755904"/>
          </a:xfrm>
        </p:spPr>
        <p:txBody>
          <a:bodyPr anchor="b" anchorCtr="0"/>
          <a:lstStyle>
            <a:lvl1pPr marL="0" indent="0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 sz="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TW" altLang="en-US" sz="2000" dirty="0"/>
              <a:t>簡報單位 簡報人名稱</a:t>
            </a:r>
            <a:r>
              <a:rPr lang="en-US" altLang="zh-TW" sz="2000" dirty="0"/>
              <a:t> </a:t>
            </a:r>
            <a:r>
              <a:rPr lang="zh-TW" altLang="en-US" sz="2000" dirty="0"/>
              <a:t>職稱</a:t>
            </a:r>
            <a:endParaRPr lang="en-US" altLang="zh-TW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9" name="文字版面配置區 8"/>
          <p:cNvSpPr>
            <a:spLocks noGrp="1"/>
          </p:cNvSpPr>
          <p:nvPr>
            <p:ph type="body" sz="quarter" idx="12" hasCustomPrompt="1"/>
          </p:nvPr>
        </p:nvSpPr>
        <p:spPr>
          <a:xfrm>
            <a:off x="546140" y="5902262"/>
            <a:ext cx="2788603" cy="432303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TW" altLang="en-US" dirty="0"/>
              <a:t>簡報日期</a:t>
            </a:r>
          </a:p>
        </p:txBody>
      </p:sp>
      <p:pic>
        <p:nvPicPr>
          <p:cNvPr id="12" name="Picture 28" descr="itri_CEL_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27" y="354013"/>
            <a:ext cx="26527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48"/>
          <p:cNvSpPr txBox="1">
            <a:spLocks noChangeArrowheads="1"/>
          </p:cNvSpPr>
          <p:nvPr userDrawn="1"/>
        </p:nvSpPr>
        <p:spPr bwMode="auto">
          <a:xfrm>
            <a:off x="-1" y="6616092"/>
            <a:ext cx="35671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zh-TW" sz="1000" dirty="0">
                <a:solidFill>
                  <a:schemeClr val="bg1"/>
                </a:solidFill>
                <a:ea typeface="微軟正黑體" panose="020B0604030504040204" pitchFamily="34" charset="-120"/>
              </a:rPr>
              <a:t>©</a:t>
            </a:r>
            <a:r>
              <a:rPr lang="zh-TW" altLang="en-US" sz="1000" dirty="0">
                <a:solidFill>
                  <a:schemeClr val="bg1"/>
                </a:solidFill>
                <a:ea typeface="微軟正黑體" panose="020B0604030504040204" pitchFamily="34" charset="-120"/>
              </a:rPr>
              <a:t>工業技術研究院  權利所有。</a:t>
            </a:r>
          </a:p>
        </p:txBody>
      </p:sp>
    </p:spTree>
    <p:extLst>
      <p:ext uri="{BB962C8B-B14F-4D97-AF65-F5344CB8AC3E}">
        <p14:creationId xmlns:p14="http://schemas.microsoft.com/office/powerpoint/2010/main" val="273325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078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39863"/>
            <a:ext cx="6126480" cy="4757737"/>
          </a:xfrm>
        </p:spPr>
        <p:txBody>
          <a:bodyPr/>
          <a:lstStyle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5" name="圖片版面配置區 2"/>
          <p:cNvSpPr>
            <a:spLocks noGrp="1"/>
          </p:cNvSpPr>
          <p:nvPr>
            <p:ph type="pic" idx="11"/>
          </p:nvPr>
        </p:nvSpPr>
        <p:spPr>
          <a:xfrm>
            <a:off x="6721574" y="1439863"/>
            <a:ext cx="2098576" cy="47577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697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39863"/>
            <a:ext cx="8360228" cy="3184388"/>
          </a:xfrm>
        </p:spPr>
        <p:txBody>
          <a:bodyPr/>
          <a:lstStyle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450849" y="316992"/>
            <a:ext cx="8366579" cy="8895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圖片版面配置區 2"/>
          <p:cNvSpPr>
            <a:spLocks noGrp="1"/>
          </p:cNvSpPr>
          <p:nvPr>
            <p:ph type="pic" idx="11"/>
          </p:nvPr>
        </p:nvSpPr>
        <p:spPr>
          <a:xfrm>
            <a:off x="457200" y="4725145"/>
            <a:ext cx="8360228" cy="15841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331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035546"/>
          </a:xfrm>
        </p:spPr>
        <p:txBody>
          <a:bodyPr anchor="t" anchorCtr="0">
            <a:noAutofit/>
          </a:bodyPr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6661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7612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542733"/>
            <a:ext cx="4105275" cy="4757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14875" y="1542733"/>
            <a:ext cx="4106863" cy="4757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545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9" name="投影片編號版面配置區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" name="Rectangle 43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316992"/>
            <a:ext cx="8369300" cy="889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0010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4" name="標題 7"/>
          <p:cNvSpPr>
            <a:spLocks noGrp="1"/>
          </p:cNvSpPr>
          <p:nvPr>
            <p:ph type="title"/>
          </p:nvPr>
        </p:nvSpPr>
        <p:spPr>
          <a:xfrm>
            <a:off x="450850" y="316992"/>
            <a:ext cx="8369300" cy="8895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33372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2551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311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2855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519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29413" y="313944"/>
            <a:ext cx="2092325" cy="5864352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0850" y="313944"/>
            <a:ext cx="6126163" cy="586435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65464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7"/>
          <p:cNvSpPr>
            <a:spLocks noChangeArrowheads="1"/>
          </p:cNvSpPr>
          <p:nvPr userDrawn="1"/>
        </p:nvSpPr>
        <p:spPr bwMode="auto">
          <a:xfrm>
            <a:off x="0" y="6618288"/>
            <a:ext cx="9144000" cy="239712"/>
          </a:xfrm>
          <a:prstGeom prst="rect">
            <a:avLst/>
          </a:prstGeom>
          <a:solidFill>
            <a:srgbClr val="009F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endParaRPr lang="zh-TW" altLang="en-US"/>
          </a:p>
        </p:txBody>
      </p:sp>
      <p:sp>
        <p:nvSpPr>
          <p:cNvPr id="1027" name="Rectangle 43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316992"/>
            <a:ext cx="8369300" cy="889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39863"/>
            <a:ext cx="8364538" cy="475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9743" name="Rectangle 4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619875"/>
            <a:ext cx="5715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fontAlgn="ctr" hangingPunct="1">
              <a:defRPr sz="1200">
                <a:solidFill>
                  <a:schemeClr val="bg1"/>
                </a:solidFill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1A71FFAD-F905-4792-971B-681FA4F61CA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2" name="Picture 49" descr="itri_CEL_A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838" y="6278563"/>
            <a:ext cx="12509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48"/>
          <p:cNvSpPr txBox="1">
            <a:spLocks noChangeArrowheads="1"/>
          </p:cNvSpPr>
          <p:nvPr userDrawn="1"/>
        </p:nvSpPr>
        <p:spPr bwMode="auto">
          <a:xfrm>
            <a:off x="-1" y="6616092"/>
            <a:ext cx="35671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zh-TW" sz="1000" dirty="0">
                <a:solidFill>
                  <a:schemeClr val="bg1"/>
                </a:solidFill>
                <a:ea typeface="微軟正黑體" panose="020B0604030504040204" pitchFamily="34" charset="-120"/>
              </a:rPr>
              <a:t>©</a:t>
            </a:r>
            <a:r>
              <a:rPr lang="zh-TW" altLang="en-US" sz="1000" dirty="0">
                <a:solidFill>
                  <a:schemeClr val="bg1"/>
                </a:solidFill>
                <a:ea typeface="微軟正黑體" panose="020B0604030504040204" pitchFamily="34" charset="-120"/>
              </a:rPr>
              <a:t>工業技術研究院  權利所有。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5" r:id="rId2"/>
    <p:sldLayoutId id="2147483916" r:id="rId3"/>
    <p:sldLayoutId id="2147483917" r:id="rId4"/>
    <p:sldLayoutId id="2147483903" r:id="rId5"/>
    <p:sldLayoutId id="2147483904" r:id="rId6"/>
    <p:sldLayoutId id="2147483905" r:id="rId7"/>
    <p:sldLayoutId id="2147483906" r:id="rId8"/>
    <p:sldLayoutId id="2147483908" r:id="rId9"/>
    <p:sldLayoutId id="2147483914" r:id="rId10"/>
    <p:sldLayoutId id="2147483909" r:id="rId11"/>
    <p:sldLayoutId id="2147483910" r:id="rId12"/>
    <p:sldLayoutId id="2147483911" r:id="rId13"/>
    <p:sldLayoutId id="2147483912" r:id="rId14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生理訊號中繼裝置 操作說明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個案管理師／護理師版　完整操作手冊　｜　2026-08-31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977639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dirty="0" err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一、認識裝置</a:t>
            </a:r>
            <a:endParaRPr sz="1700" b="1" dirty="0">
              <a:solidFill>
                <a:srgbClr val="0C8C8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這台裝置能做什麼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支援的量測裝置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裝置外觀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按鍵功能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200"/>
              </a:spcAft>
            </a:pPr>
            <a:endParaRPr lang="zh-TW" altLang="en-US"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700" b="1" dirty="0" err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二、設定裝置</a:t>
            </a:r>
            <a:endParaRPr sz="1700" b="1" dirty="0">
              <a:solidFill>
                <a:srgbClr val="0C8C8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何時需要設定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設定五步驟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設定畫面與掃碼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設定表單欄位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2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取消設定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09160" y="1280160"/>
            <a:ext cx="39776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dirty="0" err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三、日常使用</a:t>
            </a:r>
            <a:endParaRPr sz="1700" b="1" dirty="0">
              <a:solidFill>
                <a:srgbClr val="0C8C8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全自動三步驟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螢幕四種畫面總覽</a:t>
            </a:r>
            <a:endParaRPr lang="en-US"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lang="zh-TW" altLang="en-US"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</a:t>
            </a:r>
            <a:r>
              <a:rPr lang="en-US" altLang="zh-TW"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–  </a:t>
            </a:r>
            <a:r>
              <a:rPr lang="zh-TW" altLang="en-US"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日常量測</a:t>
            </a:r>
          </a:p>
          <a:p>
            <a:pPr>
              <a:spcAft>
                <a:spcPts val="300"/>
              </a:spcAft>
            </a:pPr>
            <a:r>
              <a:rPr lang="zh-TW" altLang="en-US"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</a:t>
            </a:r>
            <a:r>
              <a:rPr lang="en-US" altLang="zh-TW"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–  </a:t>
            </a:r>
            <a:r>
              <a:rPr lang="zh-TW" altLang="en-US"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上傳畫面</a:t>
            </a:r>
          </a:p>
          <a:p>
            <a:pPr>
              <a:spcAft>
                <a:spcPts val="12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紀錄頁面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700" b="1" dirty="0" err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四、疑難排解</a:t>
            </a:r>
            <a:endParaRPr sz="1700" b="1" dirty="0">
              <a:solidFill>
                <a:srgbClr val="0C8C8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資料安全性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3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常見問題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200"/>
              </a:spcAft>
            </a:pPr>
            <a:r>
              <a:rPr sz="130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     –  </a:t>
            </a:r>
            <a:r>
              <a:rPr sz="1300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何時聯絡技術人員</a:t>
            </a:r>
            <a:endParaRPr sz="130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一　認識裝置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裝置長怎樣、按鍵跟螢幕代表什麼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</a:pPr>
            <a:r>
              <a:rPr sz="20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量測數值自動上傳</a:t>
            </a:r>
          </a:p>
          <a:p>
            <a:pPr>
              <a:spcAft>
                <a:spcPts val="1600"/>
              </a:spcAft>
              <a:buNone/>
            </a:pPr>
            <a:r>
              <a:rPr sz="15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個案量血壓、血糖、血氧、體溫後，數值直接送到後端，不用手動抄寫</a:t>
            </a:r>
          </a:p>
          <a:p>
            <a:pPr>
              <a:spcAft>
                <a:spcPts val="400"/>
              </a:spcAft>
              <a:buNone/>
            </a:pPr>
            <a:r>
              <a:rPr sz="20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斷電不遺失資料</a:t>
            </a:r>
          </a:p>
          <a:p>
            <a:pPr>
              <a:spcAft>
                <a:spcPts val="1600"/>
              </a:spcAft>
              <a:buNone/>
            </a:pPr>
            <a:r>
              <a:rPr sz="15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沒上傳成功的資料會先存在裝置裡，恢復供電後自動補傳</a:t>
            </a:r>
          </a:p>
          <a:p>
            <a:pPr>
              <a:spcAft>
                <a:spcPts val="400"/>
              </a:spcAft>
              <a:buNone/>
            </a:pPr>
            <a:r>
              <a:rPr sz="20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平時免操作</a:t>
            </a:r>
          </a:p>
          <a:p>
            <a:pPr>
              <a:spcAft>
                <a:spcPts val="1600"/>
              </a:spcAft>
              <a:buNone/>
            </a:pPr>
            <a:r>
              <a:rPr sz="15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只有「第一次安裝」或「換環境」才需要動手設定；血糖機 GM700SB 例外，每次都要按中鍵才會同步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這台裝置能做什麼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支援的量測裝置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1463040" cy="420624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evice_ir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03" y="1708785"/>
            <a:ext cx="1250234" cy="1250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749040"/>
            <a:ext cx="132116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8F6B"/>
                </a:solidFill>
                <a:latin typeface="微軟正黑體"/>
                <a:ea typeface="微軟正黑體"/>
                <a:cs typeface="微軟正黑體"/>
              </a:rPr>
              <a:t>FORA IR42</a:t>
            </a:r>
          </a:p>
          <a:p>
            <a:pPr algn="ctr"/>
            <a:r>
              <a:rPr sz="11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額溫槍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3211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體溫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234440"/>
            <a:ext cx="1463040" cy="420624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25400">
            <a:solidFill>
              <a:srgbClr val="2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evice_o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243" y="1708785"/>
            <a:ext cx="1250234" cy="12502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40280" y="3749040"/>
            <a:ext cx="132116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FA8"/>
                </a:solidFill>
                <a:latin typeface="微軟正黑體"/>
                <a:ea typeface="微軟正黑體"/>
                <a:cs typeface="微軟正黑體"/>
              </a:rPr>
              <a:t>FORA O2</a:t>
            </a:r>
          </a:p>
          <a:p>
            <a:pPr algn="ctr"/>
            <a:r>
              <a:rPr sz="11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血氧計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4480560"/>
            <a:ext cx="13211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血氧 SpO2／脈搏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234440"/>
            <a:ext cx="1463040" cy="420624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evice_d4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883" y="1708785"/>
            <a:ext cx="1250234" cy="12502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31920" y="3749040"/>
            <a:ext cx="132116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0883B"/>
                </a:solidFill>
                <a:latin typeface="微軟正黑體"/>
                <a:ea typeface="微軟正黑體"/>
                <a:cs typeface="微軟正黑體"/>
              </a:rPr>
              <a:t>FORA D40</a:t>
            </a:r>
          </a:p>
          <a:p>
            <a:pPr algn="ctr"/>
            <a:r>
              <a:rPr sz="11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血壓血糖二合一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480560"/>
            <a:ext cx="13211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血壓／脈搏／血糖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1234440"/>
            <a:ext cx="1463040" cy="4206240"/>
          </a:xfrm>
          <a:prstGeom prst="roundRect">
            <a:avLst>
              <a:gd name="adj" fmla="val 8000"/>
            </a:avLst>
          </a:prstGeom>
          <a:solidFill>
            <a:srgbClr val="F4F8F9"/>
          </a:solidFill>
          <a:ln w="25400">
            <a:solidFill>
              <a:srgbClr val="8A5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device_m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0295" y="1371600"/>
            <a:ext cx="886690" cy="177338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23560" y="3749040"/>
            <a:ext cx="132116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A5FB0"/>
                </a:solidFill>
                <a:latin typeface="微軟正黑體"/>
                <a:ea typeface="微軟正黑體"/>
                <a:cs typeface="微軟正黑體"/>
              </a:rPr>
              <a:t>FORA MD6</a:t>
            </a:r>
          </a:p>
          <a:p>
            <a:pPr algn="ctr"/>
            <a:r>
              <a:rPr sz="11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六合一測試儀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4480560"/>
            <a:ext cx="132116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血糖／HCT／酮體
尿酸／膽固醇／血紅素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234440"/>
            <a:ext cx="1463040" cy="420624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45" y="1371600"/>
            <a:ext cx="1243669" cy="17733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37490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6F78"/>
                </a:solidFill>
                <a:latin typeface="微軟正黑體"/>
                <a:ea typeface="微軟正黑體"/>
                <a:cs typeface="微軟正黑體"/>
              </a:rPr>
              <a:t>RIGHTEST GM700SB</a:t>
            </a:r>
          </a:p>
          <a:p>
            <a:pPr algn="ctr"/>
            <a:r>
              <a:rPr sz="11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血糖機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805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血糖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裝置外觀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5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螢幕在正面</a:t>
            </a:r>
          </a:p>
          <a:p>
            <a:pPr>
              <a:spcAft>
                <a:spcPts val="600"/>
              </a:spcAft>
              <a:buNone/>
            </a:pPr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個案編號、目前狀態、各項最新讀值</a:t>
            </a:r>
          </a:p>
          <a:p>
            <a:pPr>
              <a:spcAft>
                <a:spcPts val="400"/>
              </a:spcAft>
              <a:buNone/>
            </a:pPr>
            <a:r>
              <a:rPr sz="15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三顆按鍵在頂面</a:t>
            </a:r>
          </a:p>
          <a:p>
            <a:pPr>
              <a:spcAft>
                <a:spcPts val="600"/>
              </a:spcAft>
              <a:buNone/>
            </a:pPr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左／中／右，日常操作只會用到這三顆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1" y="2164264"/>
            <a:ext cx="3931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34349"/>
                </a:solidFill>
                <a:latin typeface="微軟正黑體"/>
                <a:ea typeface="微軟正黑體"/>
                <a:cs typeface="微軟正黑體"/>
              </a:rPr>
              <a:t>頂面：三顆按鍵</a:t>
            </a:r>
          </a:p>
        </p:txBody>
      </p:sp>
      <p:pic>
        <p:nvPicPr>
          <p:cNvPr id="5" name="Picture 4" descr="device_face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1" y="2456872"/>
            <a:ext cx="3931919" cy="1178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1" y="3690178"/>
            <a:ext cx="3931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34349"/>
                </a:solidFill>
                <a:latin typeface="微軟正黑體"/>
                <a:ea typeface="微軟正黑體"/>
                <a:cs typeface="微軟正黑體"/>
              </a:rPr>
              <a:t>正面：螢幕</a:t>
            </a:r>
          </a:p>
        </p:txBody>
      </p:sp>
      <p:pic>
        <p:nvPicPr>
          <p:cNvPr id="33" name="Picture 32" descr="device_face_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1" y="3982786"/>
            <a:ext cx="3931919" cy="1943297"/>
          </a:xfrm>
          <a:prstGeom prst="rect">
            <a:avLst/>
          </a:prstGeom>
        </p:spPr>
      </p:pic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BEA2416B-F609-7DBB-05B0-27516AA9CF75}"/>
              </a:ext>
            </a:extLst>
          </p:cNvPr>
          <p:cNvSpPr/>
          <p:nvPr/>
        </p:nvSpPr>
        <p:spPr>
          <a:xfrm>
            <a:off x="4803355" y="2495248"/>
            <a:ext cx="1069738" cy="1673168"/>
          </a:xfrm>
          <a:prstGeom prst="roundRect">
            <a:avLst>
              <a:gd name="adj" fmla="val 12000"/>
            </a:avLst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3">
            <a:extLst>
              <a:ext uri="{FF2B5EF4-FFF2-40B4-BE49-F238E27FC236}">
                <a16:creationId xmlns:a16="http://schemas.microsoft.com/office/drawing/2014/main" id="{45E5C034-B2F3-5D1E-0BFF-85E89BBC66FE}"/>
              </a:ext>
            </a:extLst>
          </p:cNvPr>
          <p:cNvSpPr/>
          <p:nvPr/>
        </p:nvSpPr>
        <p:spPr>
          <a:xfrm>
            <a:off x="5138266" y="2012764"/>
            <a:ext cx="446279" cy="418292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左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5517C1C9-618A-E5FD-5470-FEFD2869ED07}"/>
              </a:ext>
            </a:extLst>
          </p:cNvPr>
          <p:cNvSpPr txBox="1"/>
          <p:nvPr/>
        </p:nvSpPr>
        <p:spPr>
          <a:xfrm>
            <a:off x="4860306" y="2771490"/>
            <a:ext cx="976717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長按 3 秒</a:t>
            </a: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F2A9A5D4-2588-8F94-8FB2-946D412EE92C}"/>
              </a:ext>
            </a:extLst>
          </p:cNvPr>
          <p:cNvSpPr txBox="1"/>
          <p:nvPr/>
        </p:nvSpPr>
        <p:spPr>
          <a:xfrm>
            <a:off x="4860306" y="3396854"/>
            <a:ext cx="976717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進入設定模式</a:t>
            </a:r>
            <a:endParaRPr sz="105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909B4EAD-C8A7-2014-E947-592492A4F9B6}"/>
              </a:ext>
            </a:extLst>
          </p:cNvPr>
          <p:cNvSpPr/>
          <p:nvPr/>
        </p:nvSpPr>
        <p:spPr>
          <a:xfrm>
            <a:off x="6375920" y="2483010"/>
            <a:ext cx="1069738" cy="1673168"/>
          </a:xfrm>
          <a:prstGeom prst="roundRect">
            <a:avLst>
              <a:gd name="adj" fmla="val 12000"/>
            </a:avLst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7">
            <a:extLst>
              <a:ext uri="{FF2B5EF4-FFF2-40B4-BE49-F238E27FC236}">
                <a16:creationId xmlns:a16="http://schemas.microsoft.com/office/drawing/2014/main" id="{A18941EF-9E77-9CE9-73F3-76DD533864BA}"/>
              </a:ext>
            </a:extLst>
          </p:cNvPr>
          <p:cNvSpPr/>
          <p:nvPr/>
        </p:nvSpPr>
        <p:spPr>
          <a:xfrm>
            <a:off x="6710831" y="2000526"/>
            <a:ext cx="446279" cy="418292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中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EC5799B8-8D24-B3FB-EDCA-DBE48F5CD9BD}"/>
              </a:ext>
            </a:extLst>
          </p:cNvPr>
          <p:cNvSpPr txBox="1"/>
          <p:nvPr/>
        </p:nvSpPr>
        <p:spPr>
          <a:xfrm>
            <a:off x="6432871" y="2759252"/>
            <a:ext cx="976717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短按</a:t>
            </a: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31B0A3A5-A50D-DBC9-D000-C5C5C896D9D1}"/>
              </a:ext>
            </a:extLst>
          </p:cNvPr>
          <p:cNvSpPr txBox="1"/>
          <p:nvPr/>
        </p:nvSpPr>
        <p:spPr>
          <a:xfrm>
            <a:off x="6432871" y="3111640"/>
            <a:ext cx="976717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GM700SB 同步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長按 3 秒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手動上傳</a:t>
            </a:r>
          </a:p>
        </p:txBody>
      </p:sp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8FE1B335-DA43-60EE-3BF6-791500E45860}"/>
              </a:ext>
            </a:extLst>
          </p:cNvPr>
          <p:cNvSpPr/>
          <p:nvPr/>
        </p:nvSpPr>
        <p:spPr>
          <a:xfrm>
            <a:off x="7948485" y="2458328"/>
            <a:ext cx="1069738" cy="1673168"/>
          </a:xfrm>
          <a:prstGeom prst="roundRect">
            <a:avLst>
              <a:gd name="adj" fmla="val 12000"/>
            </a:avLst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11">
            <a:extLst>
              <a:ext uri="{FF2B5EF4-FFF2-40B4-BE49-F238E27FC236}">
                <a16:creationId xmlns:a16="http://schemas.microsoft.com/office/drawing/2014/main" id="{7A93E18C-BB43-5CC0-3F6D-41F9FF74E779}"/>
              </a:ext>
            </a:extLst>
          </p:cNvPr>
          <p:cNvSpPr/>
          <p:nvPr/>
        </p:nvSpPr>
        <p:spPr>
          <a:xfrm>
            <a:off x="8283396" y="1975844"/>
            <a:ext cx="446279" cy="418292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右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998B16A3-FE01-C370-7AA0-F82380D8626E}"/>
              </a:ext>
            </a:extLst>
          </p:cNvPr>
          <p:cNvSpPr txBox="1"/>
          <p:nvPr/>
        </p:nvSpPr>
        <p:spPr>
          <a:xfrm>
            <a:off x="8005436" y="2734570"/>
            <a:ext cx="976717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按一下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1DC30877-E1CE-4592-AA53-AA5016100ED3}"/>
              </a:ext>
            </a:extLst>
          </p:cNvPr>
          <p:cNvSpPr txBox="1"/>
          <p:nvPr/>
        </p:nvSpPr>
        <p:spPr>
          <a:xfrm>
            <a:off x="8005436" y="3359934"/>
            <a:ext cx="976717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查看尚未上傳的紀錄</a:t>
            </a:r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6C1044A0-C01C-E680-33DF-E91DFB89C083}"/>
              </a:ext>
            </a:extLst>
          </p:cNvPr>
          <p:cNvSpPr txBox="1"/>
          <p:nvPr/>
        </p:nvSpPr>
        <p:spPr>
          <a:xfrm>
            <a:off x="4707506" y="4937760"/>
            <a:ext cx="397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平時不用按任何鍵，裝置會自動運作</a:t>
            </a:r>
            <a:endParaRPr sz="1400" b="1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二　設定裝置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只有安裝或換環境時才需要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</a:pPr>
            <a:r>
              <a:rPr sz="19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第一次啟用</a:t>
            </a:r>
          </a:p>
          <a:p>
            <a:pPr>
              <a:spcAft>
                <a:spcPts val="1600"/>
              </a:spcAft>
              <a:buNone/>
            </a:pPr>
            <a:r>
              <a:rPr sz="14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還沒設定過 Wi-Fi 與個案資料時</a:t>
            </a:r>
          </a:p>
          <a:p>
            <a:pPr>
              <a:spcAft>
                <a:spcPts val="400"/>
              </a:spcAft>
              <a:buNone/>
            </a:pPr>
            <a:r>
              <a:rPr sz="19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個案更換環境</a:t>
            </a:r>
          </a:p>
          <a:p>
            <a:pPr>
              <a:spcAft>
                <a:spcPts val="1600"/>
              </a:spcAft>
              <a:buNone/>
            </a:pPr>
            <a:r>
              <a:rPr sz="14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搬家、更換照護地點、Wi-Fi 改變時</a:t>
            </a:r>
          </a:p>
          <a:p>
            <a:pPr>
              <a:spcAft>
                <a:spcPts val="400"/>
              </a:spcAft>
              <a:buNone/>
            </a:pPr>
            <a:r>
              <a:rPr sz="19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個案資料需要更新</a:t>
            </a:r>
          </a:p>
          <a:p>
            <a:pPr>
              <a:spcAft>
                <a:spcPts val="1600"/>
              </a:spcAft>
              <a:buNone/>
            </a:pPr>
            <a:r>
              <a:rPr sz="14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身份證字號需要更正時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何時需要設定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設定五步驟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首次部署、個案更換居住地點／Wi-Fi 環境，或系統重開機時，都會走這個流程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4F8F9"/>
          </a:solidFill>
          <a:ln w="228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1500" y="1449324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26464"/>
            <a:ext cx="3886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插上電源／開機</a:t>
            </a:r>
          </a:p>
          <a:p>
            <a:r>
              <a: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自動進入設定畫面（燈號恆亮），最長等待 3 分鐘、不用按任何鍵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21408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4F8F9"/>
          </a:solidFill>
          <a:ln w="228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1500" y="2199132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76272"/>
            <a:ext cx="3886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手機連上裝置熱點</a:t>
            </a:r>
          </a:p>
          <a:p>
            <a:r>
              <a: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掃「1. Join WiFi」QR code，或搜尋「GATEWAY-XXXX」密碼 02750963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871216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4F8F9"/>
          </a:solidFill>
          <a:ln w="228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1500" y="2948940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26080"/>
            <a:ext cx="3886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設定頁面開啟</a:t>
            </a:r>
          </a:p>
          <a:p>
            <a:r>
              <a: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通常自動跳出；沒跳出就掃「2. Setup」QR code，或輸入 192.168.4.1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21024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4F8F9"/>
          </a:solidFill>
          <a:ln w="228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71500" y="3698748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675888"/>
            <a:ext cx="3886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填寫設定頁面</a:t>
            </a:r>
          </a:p>
          <a:p>
            <a:r>
              <a: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Wi-Fi 帳密、個案身份證字號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70832"/>
            <a:ext cx="4892040" cy="658368"/>
          </a:xfrm>
          <a:prstGeom prst="roundRect">
            <a:avLst>
              <a:gd name="adj" fmla="val 16000"/>
            </a:avLst>
          </a:prstGeom>
          <a:solidFill>
            <a:srgbClr val="F4F8F9"/>
          </a:solidFill>
          <a:ln w="2286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1500" y="4448556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25696"/>
            <a:ext cx="3886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自動回到量測模式</a:t>
            </a:r>
          </a:p>
          <a:p>
            <a:r>
              <a: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送出後立即套用；3 分鐘沒動作也會自動跳過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212080"/>
            <a:ext cx="4892040" cy="777240"/>
          </a:xfrm>
          <a:prstGeom prst="roundRect">
            <a:avLst>
              <a:gd name="adj" fmla="val 14000"/>
            </a:avLst>
          </a:prstGeom>
          <a:solidFill>
            <a:srgbClr val="FFF3E6"/>
          </a:solidFill>
          <a:ln w="2286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34349"/>
                </a:solidFill>
                <a:latin typeface="微軟正黑體"/>
                <a:ea typeface="微軟正黑體"/>
                <a:cs typeface="微軟正黑體"/>
              </a:rPr>
              <a:t>裝置已經在量測模式，之後想重新設定怎麼辦？</a:t>
            </a:r>
          </a:p>
          <a:p>
            <a:r>
              <a: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長按左鍵 3 秒即可隨時重新進入設定畫面，不用重開機——一樣有 3 分鐘時間限制，避免誤觸後長時間沒接收資料</a:t>
            </a:r>
          </a:p>
        </p:txBody>
      </p:sp>
      <p:pic>
        <p:nvPicPr>
          <p:cNvPr id="21" name="Picture 20" descr="screen_ap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311" y="2121408"/>
            <a:ext cx="2867697" cy="1417320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6914285" y="2662998"/>
            <a:ext cx="274320" cy="27432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7582350" y="2662998"/>
            <a:ext cx="274320" cy="27432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55701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步驟 2-3 會看到的畫面</a:t>
            </a:r>
          </a:p>
        </p:txBody>
      </p:sp>
      <p:pic>
        <p:nvPicPr>
          <p:cNvPr id="25" name="Picture 24" descr="settings_page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929" y="3913632"/>
            <a:ext cx="814991" cy="1234439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7496905" y="3813048"/>
            <a:ext cx="292608" cy="292608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1663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步驟 4 會看到的畫面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設定畫面與掃碼（對應步驟 2-3）</a:t>
            </a:r>
          </a:p>
        </p:txBody>
      </p:sp>
      <p:pic>
        <p:nvPicPr>
          <p:cNvPr id="3" name="Picture 2" descr="screen_ap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5077"/>
            <a:ext cx="5120640" cy="253080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944290" y="3613337"/>
            <a:ext cx="347472" cy="347472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4137205" y="3613337"/>
            <a:ext cx="347472" cy="347472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開機後裝置一律先進入這個畫面，最長等待 3 分鐘；沒人操作就自動進入量測模式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5DCC9B7-592B-9072-98B5-7172206A34B9}"/>
              </a:ext>
            </a:extLst>
          </p:cNvPr>
          <p:cNvSpPr txBox="1"/>
          <p:nvPr/>
        </p:nvSpPr>
        <p:spPr>
          <a:xfrm>
            <a:off x="1005762" y="5177080"/>
            <a:ext cx="457200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FontTx/>
              <a:buNone/>
            </a:pPr>
            <a:r>
              <a:rPr lang="en-US" altLang="zh-TW" sz="2800" b="1" kern="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lang="zh-TW" altLang="en-US" sz="2800" b="1" kern="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忘記熱點密碼？</a:t>
            </a:r>
          </a:p>
          <a:p>
            <a:pPr>
              <a:spcAft>
                <a:spcPts val="1600"/>
              </a:spcAft>
              <a:buFontTx/>
              <a:buNone/>
            </a:pPr>
            <a:r>
              <a:rPr lang="zh-TW" altLang="en-US" sz="1800" kern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固定值 </a:t>
            </a:r>
            <a:r>
              <a:rPr lang="en-US" altLang="zh-TW" sz="1800" kern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02750963</a:t>
            </a:r>
            <a:r>
              <a:rPr lang="zh-TW" altLang="en-US" sz="1800" kern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，螢幕上也看得到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234440"/>
            <a:ext cx="2926080" cy="12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Wi-Fi 名稱／密碼／個案身份證字號（供核對用）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黑底白字是欄位名稱，下面才是實際的值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575077"/>
            <a:ext cx="2926080" cy="3871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步驟 2：「1. Join WiFi」QR code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用手機相機掃描，自動加入這台裝置的熱點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步驟 3：「2. Setup」QR code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掃了直接開啟設定頁網址（沒自動跳出設定頁時的備援方法）；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下方印的 192.168.4.1 是同一個網址，QR 掃不了也能手動輸入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設定表單欄位（對應步驟 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3977639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5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Wi-Fi </a:t>
            </a:r>
            <a:r>
              <a:rPr sz="15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名稱</a:t>
            </a:r>
            <a:endParaRPr sz="15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400"/>
              </a:spcAft>
              <a:buNone/>
            </a:pP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已自動選到目前使用的網路，也能重新選擇或手動輸入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5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Wi-Fi </a:t>
            </a:r>
            <a:r>
              <a:rPr sz="15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密碼</a:t>
            </a:r>
            <a:endParaRPr sz="15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400"/>
              </a:spcAft>
              <a:buNone/>
            </a:pP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已自動帶入目前密碼（畫面仍會遮罩顯示）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5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5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個案身份證字號</a:t>
            </a:r>
            <a:endParaRPr sz="15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400"/>
              </a:spcAft>
              <a:buNone/>
            </a:pP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已自動帶入上次填寫的資料，如有變更再修改即可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8" name="Picture 7" descr="settings_page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426" y="1188720"/>
            <a:ext cx="3531628" cy="5349240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FFFC8EF5-8A7F-79CA-AEB3-E0A59EF03F22}"/>
              </a:ext>
            </a:extLst>
          </p:cNvPr>
          <p:cNvSpPr txBox="1">
            <a:spLocks/>
          </p:cNvSpPr>
          <p:nvPr/>
        </p:nvSpPr>
        <p:spPr>
          <a:xfrm>
            <a:off x="450850" y="3527970"/>
            <a:ext cx="5165678" cy="1876543"/>
          </a:xfrm>
          <a:prstGeom prst="rect">
            <a:avLst/>
          </a:prstGeom>
        </p:spPr>
        <p:txBody>
          <a:bodyPr wrap="squar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Aft>
                <a:spcPts val="400"/>
              </a:spcAft>
              <a:buFontTx/>
              <a:buNone/>
            </a:pPr>
            <a:r>
              <a:rPr lang="zh-TW" altLang="en-US" sz="2400" kern="0" dirty="0">
                <a:latin typeface="微軟正黑體"/>
                <a:ea typeface="微軟正黑體"/>
                <a:cs typeface="微軟正黑體"/>
              </a:rPr>
              <a:t>取消設定</a:t>
            </a:r>
            <a:endParaRPr lang="zh-TW" altLang="en-US" sz="1900" b="1" kern="0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FontTx/>
              <a:buNone/>
            </a:pPr>
            <a:r>
              <a:rPr lang="en-US" altLang="zh-TW" sz="1900" b="1" kern="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lang="zh-TW" altLang="en-US" sz="1900" b="1" kern="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按住左鍵 </a:t>
            </a:r>
            <a:r>
              <a:rPr lang="en-US" altLang="zh-TW" sz="1900" b="1" kern="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 </a:t>
            </a:r>
            <a:r>
              <a:rPr lang="zh-TW" altLang="en-US" sz="1900" b="1" kern="0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秒＝取消</a:t>
            </a:r>
          </a:p>
          <a:p>
            <a:pPr>
              <a:spcAft>
                <a:spcPts val="1600"/>
              </a:spcAft>
              <a:buFontTx/>
              <a:buNone/>
            </a:pPr>
            <a:r>
              <a:rPr lang="zh-TW" altLang="en-US" sz="1400" kern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不會儲存任何變更，也能用來跳過開機的 </a:t>
            </a:r>
            <a:r>
              <a:rPr lang="en-US" altLang="zh-TW" sz="1400" kern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3 </a:t>
            </a:r>
            <a:r>
              <a:rPr lang="zh-TW" altLang="en-US" sz="1400" kern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分鐘等待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850" y="5470000"/>
            <a:ext cx="4200000" cy="850000"/>
          </a:xfrm>
          <a:prstGeom prst="roundRect">
            <a:avLst/>
          </a:prstGeom>
          <a:solidFill>
            <a:srgbClr val="FFF3E6"/>
          </a:solidFill>
          <a:ln w="2286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14300" rIns="228600" rtlCol="0" anchor="ctr"/>
          <a:lstStyle/>
          <a:p>
            <a:pPr algn="ctr"/>
            <a:r>
              <a:rPr sz="1300" b="1">
                <a:solidFill>
                  <a:srgbClr val="134349"/>
                </a:solidFill>
                <a:latin typeface="微軟正黑體"/>
                <a:ea typeface="微軟正黑體"/>
                <a:cs typeface="微軟正黑體"/>
              </a:rPr>
              <a:t>這裡的 Wi-Fi 跟步驟 2 連的裝置熱點不一樣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裝置熱點只是暫時用來設定；這裡選的才是裝置之後要連上網路用的 Wi-Fi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三　日常使用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個管師／護理師平時不需要碰裝置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全自動三步驟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377440"/>
            <a:ext cx="2194559" cy="1371600"/>
          </a:xfrm>
          <a:prstGeom prst="roundRect">
            <a:avLst>
              <a:gd name="adj" fmla="val 14000"/>
            </a:avLst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668779" y="2491740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2103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個案／照護者量測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19" y="28346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19" y="2377440"/>
            <a:ext cx="2194559" cy="1371600"/>
          </a:xfrm>
          <a:prstGeom prst="roundRect">
            <a:avLst>
              <a:gd name="adj" fmla="val 14000"/>
            </a:avLst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320538" y="2491740"/>
            <a:ext cx="502920" cy="50292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3108960"/>
            <a:ext cx="2103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裝置自動連線收值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78" y="28346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8" y="2377440"/>
            <a:ext cx="2194559" cy="1371600"/>
          </a:xfrm>
          <a:prstGeom prst="roundRect">
            <a:avLst>
              <a:gd name="adj" fmla="val 14000"/>
            </a:avLst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972297" y="2491740"/>
            <a:ext cx="502920" cy="50292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198" y="3108960"/>
            <a:ext cx="2103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閒置數秒後自動上傳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螢幕四種畫面總覽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8651"/>
            <a:ext cx="3931920" cy="19432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59359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① 日常量測（常駐畫面）</a:t>
            </a:r>
          </a:p>
        </p:txBody>
      </p:sp>
      <p:pic>
        <p:nvPicPr>
          <p:cNvPr id="5" name="Picture 4" descr="screen_ap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28651"/>
            <a:ext cx="3931920" cy="19432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359359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② 設定模式（開機自動進入，最長 3 分鐘）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63291"/>
            <a:ext cx="3931920" cy="19432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282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③ 上傳中／完成／發生錯誤（ERROR 畫面）</a:t>
            </a:r>
          </a:p>
        </p:txBody>
      </p:sp>
      <p:pic>
        <p:nvPicPr>
          <p:cNvPr id="9" name="Picture 8" descr="screen_hi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63291"/>
            <a:ext cx="3931920" cy="19432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64282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④ 右鍵：查看尚未上傳的紀錄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/>
                <a:ea typeface="微軟正黑體"/>
                <a:cs typeface="微軟正黑體"/>
              </a:rPr>
              <a:t>日常量測</a:t>
            </a:r>
            <a:endParaRPr dirty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16" name="Picture 15" descr="screen_mockup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06903"/>
            <a:ext cx="5236768" cy="25882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879183" y="1716543"/>
            <a:ext cx="197327" cy="197327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9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1879183" y="1917450"/>
            <a:ext cx="197327" cy="197327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9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879183" y="2118356"/>
            <a:ext cx="197327" cy="197327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9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1879183" y="2319263"/>
            <a:ext cx="197327" cy="197327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9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1879183" y="2520168"/>
            <a:ext cx="197327" cy="197327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9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1879183" y="2721075"/>
            <a:ext cx="197327" cy="197327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9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1879183" y="2921981"/>
            <a:ext cx="197327" cy="197327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9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11" name="Oval 10"/>
          <p:cNvSpPr/>
          <p:nvPr/>
        </p:nvSpPr>
        <p:spPr>
          <a:xfrm>
            <a:off x="1879183" y="3122888"/>
            <a:ext cx="197327" cy="197327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9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下面 1-8 由上到下，跟螢幕上的每一行一一對應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423598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個案編號＋目前狀態（含</a:t>
            </a:r>
            <a:r>
              <a:rPr lang="zh-TW" altLang="en-US"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最後掃描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時間，證明裝置還活著</a:t>
            </a: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體溫（額溫槍</a:t>
            </a: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血氧／脈搏（血氧計</a:t>
            </a: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脈搏（依來源標註</a:t>
            </a: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BP 或 O2）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846320"/>
            <a:ext cx="3977640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5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血糖（依來源標註 D40／MD6／GM</a:t>
            </a: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6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血壓：收縮壓／舒張壓</a:t>
            </a:r>
            <a:r>
              <a:rPr lang="zh-TW" altLang="en-US"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血壓計</a:t>
            </a:r>
            <a:r>
              <a:rPr lang="en-US" altLang="zh-TW"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)</a:t>
            </a:r>
            <a:endParaRPr sz="115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7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六合一其他項目（最新一項：HCT／酮體／尿酸／膽固醇／血紅素</a:t>
            </a: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8  </a:t>
            </a:r>
            <a:r>
              <a:rPr sz="115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最後上傳時間＋尚未上傳筆數</a:t>
            </a:r>
            <a:endParaRPr sz="115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沒量過的項目會顯示「-- (never)」；還沒校時成功時時間戳會顯示「unsynced,+N分鐘」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855103"/>
          <a:ext cx="8229600" cy="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5829600"/>
              </a:tblGrid>
              <a:tr h="20666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34349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裝置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34349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時間來源</a:t>
                      </a:r>
                    </a:p>
                  </a:txBody>
                  <a:tcPr/>
                </a:tc>
              </a:tr>
              <a:tr h="20666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額溫槍／血氧計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中繼器收到時間</a:t>
                      </a:r>
                    </a:p>
                  </a:txBody>
                  <a:tcPr/>
                </a:tc>
              </a:tr>
              <a:tr h="20666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血壓計／六合一／血糖機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1. 優先用裝置自己的量測時間</a:t>
                      </a:r>
                    </a:p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 差超過 7 天，改用中繼器收到時間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額溫槍 FORA IR42｜藍牙使用須知</a:t>
            </a:r>
          </a:p>
        </p:txBody>
      </p:sp>
      <p:pic>
        <p:nvPicPr>
          <p:cNvPr id="5" name="Picture 4" descr="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藍牙圖示：出現在螢幕</a:t>
            </a:r>
            <a:r>
              <a:rPr lang="zh-TW" altLang="en-US"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右</a:t>
            </a:r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上角（電池圖示旁</a:t>
            </a:r>
            <a:r>
              <a:rPr sz="120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6" name="Oval 5"/>
          <p:cNvSpPr/>
          <p:nvPr/>
        </p:nvSpPr>
        <p:spPr>
          <a:xfrm>
            <a:off x="1815153" y="1706508"/>
            <a:ext cx="289280" cy="316167"/>
          </a:xfrm>
          <a:prstGeom prst="ellipse">
            <a:avLst/>
          </a:prstGeom>
          <a:noFill/>
          <a:ln w="38100">
            <a:solidFill>
              <a:srgbClr val="009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86200" y="131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量測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對準額頭或耳朵，觸發測量，立即顯示體溫</a:t>
            </a:r>
          </a:p>
        </p:txBody>
      </p:sp>
      <p:sp>
        <p:nvSpPr>
          <p:cNvPr id="8" name="Oval 7"/>
          <p:cNvSpPr/>
          <p:nvPr/>
        </p:nvSpPr>
        <p:spPr>
          <a:xfrm>
            <a:off x="4026200" y="1450000"/>
            <a:ext cx="360000" cy="36000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38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裝置開始廣播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量測完成後才會開啟藍牙（螢幕出現藍牙圖示，如左圖）</a:t>
            </a:r>
          </a:p>
        </p:txBody>
      </p:sp>
      <p:sp>
        <p:nvSpPr>
          <p:cNvPr id="10" name="Oval 9"/>
          <p:cNvSpPr/>
          <p:nvPr/>
        </p:nvSpPr>
        <p:spPr>
          <a:xfrm>
            <a:off x="4026200" y="2520000"/>
            <a:ext cx="360000" cy="36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45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中繼器自動抓取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中繼器在範圍內就會自動連線收下這筆體溫，不用手動操作</a:t>
            </a:r>
          </a:p>
        </p:txBody>
      </p:sp>
      <p:sp>
        <p:nvSpPr>
          <p:cNvPr id="12" name="Oval 11"/>
          <p:cNvSpPr/>
          <p:nvPr/>
        </p:nvSpPr>
        <p:spPr>
          <a:xfrm>
            <a:off x="4026200" y="3590000"/>
            <a:ext cx="360000" cy="36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4520000"/>
            <a:ext cx="4800600" cy="980000"/>
          </a:xfrm>
          <a:prstGeom prst="roundRect">
            <a:avLst/>
          </a:prstGeom>
          <a:solidFill>
            <a:srgbClr val="FFF3E6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裝置約 1 分鐘後自動關機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若這段時間內中繼器沒連上，裝置會關機、藍牙跟著關閉，這筆數值不會被收到，需要重新量測一次</a:t>
            </a:r>
          </a:p>
        </p:txBody>
      </p:sp>
      <p:sp>
        <p:nvSpPr>
          <p:cNvPr id="14" name="Oval 13"/>
          <p:cNvSpPr/>
          <p:nvPr/>
        </p:nvSpPr>
        <p:spPr>
          <a:xfrm>
            <a:off x="4026200" y="4660000"/>
            <a:ext cx="360000" cy="36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50877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血氧計 FORA O2｜藍牙使用須知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320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藍牙指示燈：機身上方、FORA 字樣正上方的小圓點</a:t>
            </a:r>
          </a:p>
        </p:txBody>
      </p:sp>
      <p:sp>
        <p:nvSpPr>
          <p:cNvPr id="6" name="Oval 5"/>
          <p:cNvSpPr/>
          <p:nvPr/>
        </p:nvSpPr>
        <p:spPr>
          <a:xfrm>
            <a:off x="1520959" y="1818139"/>
            <a:ext cx="420000" cy="420000"/>
          </a:xfrm>
          <a:prstGeom prst="ellipse">
            <a:avLst/>
          </a:prstGeom>
          <a:noFill/>
          <a:ln w="38100">
            <a:solidFill>
              <a:srgbClr val="009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86200" y="131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量測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夾上手指，持續量測</a:t>
            </a:r>
          </a:p>
        </p:txBody>
      </p:sp>
      <p:sp>
        <p:nvSpPr>
          <p:cNvPr id="8" name="Oval 7"/>
          <p:cNvSpPr/>
          <p:nvPr/>
        </p:nvSpPr>
        <p:spPr>
          <a:xfrm>
            <a:off x="4026200" y="1450000"/>
            <a:ext cx="360000" cy="36000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38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裝置開始廣播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夾上手指後就會持續開啟藍牙（機身藍燈亮起，如左圖）</a:t>
            </a:r>
          </a:p>
        </p:txBody>
      </p:sp>
      <p:sp>
        <p:nvSpPr>
          <p:cNvPr id="10" name="Oval 9"/>
          <p:cNvSpPr/>
          <p:nvPr/>
        </p:nvSpPr>
        <p:spPr>
          <a:xfrm>
            <a:off x="4026200" y="2520000"/>
            <a:ext cx="360000" cy="36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45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中繼器自動抓取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持續觀察 30 秒（比照臨床等待讀數穩定的慣例），期間只保留最新數值，滿 30 秒才正式記錄一筆</a:t>
            </a:r>
          </a:p>
        </p:txBody>
      </p:sp>
      <p:sp>
        <p:nvSpPr>
          <p:cNvPr id="12" name="Oval 11"/>
          <p:cNvSpPr/>
          <p:nvPr/>
        </p:nvSpPr>
        <p:spPr>
          <a:xfrm>
            <a:off x="4026200" y="3590000"/>
            <a:ext cx="360000" cy="36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4520000"/>
            <a:ext cx="4800600" cy="980000"/>
          </a:xfrm>
          <a:prstGeom prst="roundRect">
            <a:avLst/>
          </a:prstGeom>
          <a:solidFill>
            <a:srgbClr val="FFF3E6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記錄完成後 90 秒內不會開始新一輪觀察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避免剛記錄完又立刻重新觀察；手指移開後裝置本身也會在約 15 秒內自動關機</a:t>
            </a:r>
          </a:p>
        </p:txBody>
      </p:sp>
      <p:sp>
        <p:nvSpPr>
          <p:cNvPr id="14" name="Oval 13"/>
          <p:cNvSpPr/>
          <p:nvPr/>
        </p:nvSpPr>
        <p:spPr>
          <a:xfrm>
            <a:off x="4026200" y="4660000"/>
            <a:ext cx="360000" cy="36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27530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血壓計 FORA D40｜藍牙使用須知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320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訊號塔圖示：螢幕右上角，裝置型號旁</a:t>
            </a:r>
            <a:endParaRPr sz="120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Oval 5"/>
          <p:cNvSpPr/>
          <p:nvPr/>
        </p:nvSpPr>
        <p:spPr>
          <a:xfrm flipH="1">
            <a:off x="2859777" y="2400868"/>
            <a:ext cx="265559" cy="265559"/>
          </a:xfrm>
          <a:prstGeom prst="ellipse">
            <a:avLst/>
          </a:prstGeom>
          <a:noFill/>
          <a:ln w="38100">
            <a:solidFill>
              <a:srgbClr val="009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86200" y="131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量測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完整充放氣量測約 30-45 秒</a:t>
            </a:r>
          </a:p>
        </p:txBody>
      </p:sp>
      <p:sp>
        <p:nvSpPr>
          <p:cNvPr id="8" name="Oval 7"/>
          <p:cNvSpPr/>
          <p:nvPr/>
        </p:nvSpPr>
        <p:spPr>
          <a:xfrm>
            <a:off x="4026200" y="1450000"/>
            <a:ext cx="360000" cy="36000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38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裝置開始廣播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量測完成後才會開啟藍牙（螢幕右上角的訊號塔圖示會亮起，如左圖）</a:t>
            </a:r>
          </a:p>
        </p:txBody>
      </p:sp>
      <p:sp>
        <p:nvSpPr>
          <p:cNvPr id="10" name="Oval 9"/>
          <p:cNvSpPr/>
          <p:nvPr/>
        </p:nvSpPr>
        <p:spPr>
          <a:xfrm>
            <a:off x="4026200" y="2520000"/>
            <a:ext cx="360000" cy="36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45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中繼器自動抓取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中繼器在範圍內就會自動連線收下這筆血壓，紀錄的時間是實際量測當下，不是連線當下，不用手動操作</a:t>
            </a:r>
          </a:p>
        </p:txBody>
      </p:sp>
      <p:sp>
        <p:nvSpPr>
          <p:cNvPr id="12" name="Oval 11"/>
          <p:cNvSpPr/>
          <p:nvPr/>
        </p:nvSpPr>
        <p:spPr>
          <a:xfrm>
            <a:off x="4026200" y="3590000"/>
            <a:ext cx="360000" cy="36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4520000"/>
            <a:ext cx="4800600" cy="98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裝置約 3 分鐘後自動關機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就算這段時間內中繼器沒連上也不會遺失：裝置會記住，下次中繼器連線時自動往回補抓回來</a:t>
            </a:r>
          </a:p>
        </p:txBody>
      </p:sp>
      <p:sp>
        <p:nvSpPr>
          <p:cNvPr id="14" name="Oval 13"/>
          <p:cNvSpPr/>
          <p:nvPr/>
        </p:nvSpPr>
        <p:spPr>
          <a:xfrm>
            <a:off x="4026200" y="4660000"/>
            <a:ext cx="360000" cy="36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37072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六合一 FORA MD6｜藍牙使用須知</a:t>
            </a:r>
          </a:p>
        </p:txBody>
      </p:sp>
      <p:pic>
        <p:nvPicPr>
          <p:cNvPr id="5" name="Picture 4" descr="FORA-MD6-單機-02-1000x100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320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藍牙指示燈：機身上方、FORA MD6 字樣左邊的小圓點</a:t>
            </a:r>
          </a:p>
        </p:txBody>
      </p:sp>
      <p:sp>
        <p:nvSpPr>
          <p:cNvPr id="6" name="Oval 5"/>
          <p:cNvSpPr/>
          <p:nvPr/>
        </p:nvSpPr>
        <p:spPr>
          <a:xfrm>
            <a:off x="2397868" y="1910950"/>
            <a:ext cx="420000" cy="420000"/>
          </a:xfrm>
          <a:prstGeom prst="ellipse">
            <a:avLst/>
          </a:prstGeom>
          <a:noFill/>
          <a:ln w="38100">
            <a:solidFill>
              <a:srgbClr val="009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86200" y="131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量測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插入試片完成測量（血糖／HCT／酮體／尿酸／膽固醇／血紅素其中一項）</a:t>
            </a:r>
          </a:p>
        </p:txBody>
      </p:sp>
      <p:sp>
        <p:nvSpPr>
          <p:cNvPr id="8" name="Oval 7"/>
          <p:cNvSpPr/>
          <p:nvPr/>
        </p:nvSpPr>
        <p:spPr>
          <a:xfrm>
            <a:off x="4026200" y="1450000"/>
            <a:ext cx="360000" cy="36000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38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裝置開始廣播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量測完成後才會開啟藍牙（機身藍燈亮起，如左圖）</a:t>
            </a:r>
          </a:p>
        </p:txBody>
      </p:sp>
      <p:sp>
        <p:nvSpPr>
          <p:cNvPr id="10" name="Oval 9"/>
          <p:cNvSpPr/>
          <p:nvPr/>
        </p:nvSpPr>
        <p:spPr>
          <a:xfrm>
            <a:off x="4026200" y="2520000"/>
            <a:ext cx="360000" cy="36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450000"/>
            <a:ext cx="4800600" cy="98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中繼器自動抓取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中繼器在範圍內就會自動連線收下這筆數值，紀錄的時間是實際量測當下，不是連線當下，不用手動操作</a:t>
            </a:r>
          </a:p>
        </p:txBody>
      </p:sp>
      <p:sp>
        <p:nvSpPr>
          <p:cNvPr id="12" name="Oval 11"/>
          <p:cNvSpPr/>
          <p:nvPr/>
        </p:nvSpPr>
        <p:spPr>
          <a:xfrm>
            <a:off x="4026200" y="3590000"/>
            <a:ext cx="360000" cy="36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4520000"/>
            <a:ext cx="4800600" cy="98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0000" tIns="120000" rIns="18000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資料傳完後自動關機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抓到資料、傳輸完成後裝置就會自動關閉，不用等固定時間；就算一直沒連上也不會遺失，下次連線時會自動往回補抓，但建議盡快讓中繼器在範圍內</a:t>
            </a:r>
          </a:p>
        </p:txBody>
      </p:sp>
      <p:sp>
        <p:nvSpPr>
          <p:cNvPr id="14" name="Oval 13"/>
          <p:cNvSpPr/>
          <p:nvPr/>
        </p:nvSpPr>
        <p:spPr>
          <a:xfrm>
            <a:off x="4026200" y="4660000"/>
            <a:ext cx="360000" cy="36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73561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RIGHTEST GM700SB｜藍牙使用須知</a:t>
            </a:r>
          </a:p>
        </p:txBody>
      </p:sp>
      <p:pic>
        <p:nvPicPr>
          <p:cNvPr id="3" name="Picture 2" descr="images (3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234440"/>
            <a:ext cx="2244436" cy="32004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166140" y="2195429"/>
            <a:ext cx="360000" cy="360000"/>
          </a:xfrm>
          <a:prstGeom prst="ellipse">
            <a:avLst/>
          </a:prstGeom>
          <a:noFill/>
          <a:ln w="38100">
            <a:solidFill>
              <a:srgbClr val="009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494840"/>
            <a:ext cx="32004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藍牙圖示：螢幕左側、mem 字樣下方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1234440"/>
            <a:ext cx="4800600" cy="87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00000" rIns="160000" rtlCol="0" anchor="ctr"/>
          <a:lstStyle/>
          <a:p>
            <a:pPr algn="ctr"/>
            <a:r>
              <a:rPr sz="12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量測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插入試片完成血糖測量</a:t>
            </a:r>
          </a:p>
        </p:txBody>
      </p:sp>
      <p:sp>
        <p:nvSpPr>
          <p:cNvPr id="7" name="Oval 6"/>
          <p:cNvSpPr/>
          <p:nvPr/>
        </p:nvSpPr>
        <p:spPr>
          <a:xfrm>
            <a:off x="4016200" y="1364440"/>
            <a:ext cx="340000" cy="340000"/>
          </a:xfrm>
          <a:prstGeom prst="ellipse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2184440"/>
            <a:ext cx="4800600" cy="87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00000" rIns="160000" rtlCol="0" anchor="ctr"/>
          <a:lstStyle/>
          <a:p>
            <a:pPr algn="ctr"/>
            <a:r>
              <a:rPr sz="12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開啟同步視窗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在中繼器上短按中鍵，開啟 30 秒搜尋視窗——這台裝置不會自動連線，一定要主動按中鍵</a:t>
            </a:r>
          </a:p>
        </p:txBody>
      </p:sp>
      <p:sp>
        <p:nvSpPr>
          <p:cNvPr id="9" name="Oval 8"/>
          <p:cNvSpPr/>
          <p:nvPr/>
        </p:nvSpPr>
        <p:spPr>
          <a:xfrm>
            <a:off x="4016200" y="2314440"/>
            <a:ext cx="340000" cy="34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3134440"/>
            <a:ext cx="4800600" cy="870000"/>
          </a:xfrm>
          <a:prstGeom prst="roundRect">
            <a:avLst/>
          </a:prstGeom>
          <a:solidFill>
            <a:srgbClr val="FFF3E6"/>
          </a:solidFill>
          <a:ln w="25400">
            <a:solidFill>
              <a:srgbClr val="E08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00000" rIns="160000" rtlCol="0" anchor="ctr"/>
          <a:lstStyle/>
          <a:p>
            <a:pPr algn="ctr"/>
            <a:r>
              <a:rPr sz="12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首次配對需在血糖機上按鍵確認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第一次連線時，血糖機螢幕會出現配對確認畫面，需要在血糖機本身按鍵確認；配對過一次後，之後不用再重複</a:t>
            </a:r>
          </a:p>
        </p:txBody>
      </p:sp>
      <p:sp>
        <p:nvSpPr>
          <p:cNvPr id="11" name="Oval 10"/>
          <p:cNvSpPr/>
          <p:nvPr/>
        </p:nvSpPr>
        <p:spPr>
          <a:xfrm>
            <a:off x="4016200" y="3264440"/>
            <a:ext cx="340000" cy="340000"/>
          </a:xfrm>
          <a:prstGeom prst="ellipse">
            <a:avLst/>
          </a:prstGeom>
          <a:solidFill>
            <a:srgbClr val="E08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4084440"/>
            <a:ext cx="4800600" cy="870000"/>
          </a:xfrm>
          <a:prstGeom prst="roundRect">
            <a:avLst/>
          </a:prstGeom>
          <a:solidFill>
            <a:srgbClr val="F4F8F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00000" rIns="160000" rtlCol="0" anchor="ctr"/>
          <a:lstStyle/>
          <a:p>
            <a:pPr algn="ctr"/>
            <a:r>
              <a:rPr sz="12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中繼器自動抓取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30 秒視窗內掃到裝置就會自動連線收下血糖值，紀錄的時間是實際量測當下，不是連線當下</a:t>
            </a:r>
          </a:p>
        </p:txBody>
      </p:sp>
      <p:sp>
        <p:nvSpPr>
          <p:cNvPr id="13" name="Oval 12"/>
          <p:cNvSpPr/>
          <p:nvPr/>
        </p:nvSpPr>
        <p:spPr>
          <a:xfrm>
            <a:off x="4016200" y="4214440"/>
            <a:ext cx="340000" cy="34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5034440"/>
            <a:ext cx="4800600" cy="87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C8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0" tIns="100000" rIns="160000" rtlCol="0" anchor="ctr"/>
          <a:lstStyle/>
          <a:p>
            <a:pPr algn="ctr"/>
            <a:r>
              <a:rPr sz="12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30 秒沒掃到就要重新按一次中鍵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視窗過期會自動恢復忽略，不會一直嘗試連線；就算沒有立刻抓到也不會遺失，下次同步時會自動補抓</a:t>
            </a:r>
          </a:p>
        </p:txBody>
      </p:sp>
      <p:sp>
        <p:nvSpPr>
          <p:cNvPr id="15" name="Oval 14"/>
          <p:cNvSpPr/>
          <p:nvPr/>
        </p:nvSpPr>
        <p:spPr>
          <a:xfrm>
            <a:off x="4016200" y="5164440"/>
            <a:ext cx="340000" cy="340000"/>
          </a:xfrm>
          <a:prstGeom prst="ellipse">
            <a:avLst/>
          </a:prstGeom>
          <a:solidFill>
            <a:srgbClr val="3C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微軟正黑體"/>
                <a:ea typeface="微軟正黑體"/>
                <a:cs typeface="微軟正黑體"/>
              </a:rPr>
              <a:t>上傳畫面</a:t>
            </a:r>
            <a:r>
              <a:rPr lang="en-US" altLang="zh-TW" dirty="0"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dirty="0">
                <a:latin typeface="微軟正黑體"/>
                <a:ea typeface="微軟正黑體"/>
                <a:cs typeface="微軟正黑體"/>
              </a:rPr>
              <a:t>長按中鍵 3 秒嘗試重新上傳</a:t>
            </a:r>
            <a:r>
              <a:rPr lang="en-US" altLang="zh-TW" dirty="0">
                <a:latin typeface="微軟正黑體"/>
                <a:ea typeface="微軟正黑體"/>
                <a:cs typeface="微軟正黑體"/>
              </a:rPr>
              <a:t>)</a:t>
            </a:r>
            <a:endParaRPr dirty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3" name="Picture 2" descr="screen_upload_connec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33622"/>
            <a:ext cx="2651760" cy="1310596"/>
          </a:xfrm>
          <a:prstGeom prst="rect">
            <a:avLst/>
          </a:prstGeom>
        </p:spPr>
      </p:pic>
      <p:pic>
        <p:nvPicPr>
          <p:cNvPr id="10" name="Picture 9" descr="screen_upload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133622"/>
            <a:ext cx="2651760" cy="1310596"/>
          </a:xfrm>
          <a:prstGeom prst="rect">
            <a:avLst/>
          </a:prstGeom>
        </p:spPr>
      </p:pic>
      <p:pic>
        <p:nvPicPr>
          <p:cNvPr id="11" name="Picture 10" descr="screen_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133622"/>
            <a:ext cx="2651760" cy="13105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434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連線中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4434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上傳完成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434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連線失敗（ERROR 畫面）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4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4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裝置每次連線都會經過這三種狀態</a:t>
            </a:r>
            <a:endParaRPr sz="14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800"/>
              </a:spcAft>
              <a:buNone/>
            </a:pP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連線中</a:t>
            </a: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送出資料</a:t>
            </a: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顯示結果；WiFi</a:t>
            </a: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連不上會改顯示黑底反白的</a:t>
            </a: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ERROR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畫面</a:t>
            </a:r>
            <a:endParaRPr sz="11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4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4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失敗不會遺失資料</a:t>
            </a:r>
            <a:endParaRPr sz="14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800"/>
              </a:spcAft>
              <a:buNone/>
            </a:pPr>
            <a:r>
              <a:rPr sz="11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1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待傳紀錄會保留；每次連線嘗試最長約 1 分鐘，失敗後約 1 小時會自動重試一次，也可以長按中鍵 3 秒立即重試</a:t>
            </a:r>
            <a:endParaRPr sz="11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紀錄頁面（右鍵）</a:t>
            </a:r>
          </a:p>
        </p:txBody>
      </p:sp>
      <p:pic>
        <p:nvPicPr>
          <p:cNvPr id="3" name="Picture 2" descr="scree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5077"/>
            <a:ext cx="5120640" cy="25308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234440"/>
            <a:ext cx="2926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  按右鍵顯示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尚未上傳成功的紀錄（排隊中／上次失敗待重試）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  「.」＝排隊等待上傳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「!」＝上次上傳失敗、會自動重試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  筆數多會分頁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再按一次右鍵翻下一頁；8 秒沒動作自動跳回常駐畫面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C8C80"/>
                </a:solidFill>
                <a:latin typeface="微軟正黑體"/>
                <a:ea typeface="微軟正黑體"/>
                <a:cs typeface="微軟正黑體"/>
              </a:rPr>
              <a:t>四　疑難排解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資料安全性、常見問題、何時該找技術人員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</a:pP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9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資料先存裝置，不會遺失</a:t>
            </a:r>
            <a:endParaRPr sz="19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600"/>
              </a:spcAft>
              <a:buNone/>
            </a:pPr>
            <a:r>
              <a:rPr sz="14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4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斷電也不影響，恢復供電後自動補傳</a:t>
            </a:r>
            <a:endParaRPr sz="14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9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上傳失敗自動重試</a:t>
            </a:r>
            <a:endParaRPr sz="19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600"/>
              </a:spcAft>
              <a:buNone/>
            </a:pPr>
            <a:r>
              <a:rPr sz="14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4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不需要人工處理</a:t>
            </a:r>
            <a:endParaRPr sz="14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9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右鍵查看待上傳紀錄</a:t>
            </a:r>
            <a:endParaRPr sz="1900" b="1" dirty="0">
              <a:solidFill>
                <a:srgbClr val="333333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1600"/>
              </a:spcAft>
              <a:buNone/>
            </a:pPr>
            <a:r>
              <a:rPr sz="14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4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排隊中／上次失敗待重試的都看得到</a:t>
            </a:r>
            <a:endParaRPr sz="1450" b="0" dirty="0">
              <a:solidFill>
                <a:srgbClr val="757575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Aft>
                <a:spcPts val="400"/>
              </a:spcAft>
              <a:buNone/>
            </a:pP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</a:t>
            </a:r>
            <a:r>
              <a:rPr sz="1900" b="1" dirty="0" err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待傳佇列上限</a:t>
            </a: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640</a:t>
            </a:r>
            <a:r>
              <a:rPr sz="1900" b="1" dirty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 筆</a:t>
            </a:r>
          </a:p>
          <a:p>
            <a:pPr>
              <a:spcAft>
                <a:spcPts val="1600"/>
              </a:spcAft>
              <a:buNone/>
            </a:pPr>
            <a:r>
              <a:rPr sz="14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</a:t>
            </a:r>
            <a:r>
              <a:rPr sz="1450" b="0" dirty="0" err="1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長時間斷網若累積超過上限，新讀值會被捨棄（不是取代最舊的</a:t>
            </a:r>
            <a:r>
              <a:rPr sz="1450" b="0" dirty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資料安全性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常見問題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問題</a:t>
                      </a:r>
                    </a:p>
                  </a:txBody>
                  <a:tcPr anchor="ctr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說明</a:t>
                      </a:r>
                    </a:p>
                  </a:txBody>
                  <a:tcPr anchor="ctr"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螢幕數值沒更新？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確認量測裝置藍牙開啟、電池足夠。同一台裝置量測後需要等一段時間（額溫槍約1分鐘、血壓計約3分鐘）才會再連線；血糖機 GM700SB 不會自動連線，每次都要在中繼器上短按中鍵開啟 30 秒搜尋視窗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螢幕顯示「unsynced」？</a:t>
                      </a:r>
                    </a:p>
                  </a:txBody>
                  <a:tcPr marL="101600" marR="101600" anchor="ctr"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還沒對時成功，時間改用「幾分鐘前」表示；WiFi 正常的話每 5 分鐘自動重試校時，WiFi 本身連不上的話，會跟上面「待傳筆數」那則一樣改成約 1 小時重試一次</a:t>
                      </a:r>
                    </a:p>
                  </a:txBody>
                  <a:tcPr marL="101600" marR="101600" anchor="ctr">
                    <a:solidFill>
                      <a:srgbClr val="DA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待傳筆數一直增加？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通常是 WiFi 連不上——螢幕會顯示「WiFi connect failed, will retry」，每次嘗試最長約 1 分鐘就會放棄；放棄後約 1 小時才會自動再試一次，避免一直做白工佔用量測時間；想立刻重試可長按中鍵 3 秒，持續失敗請確認密碼是否正確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螢幕像當機？</a:t>
                      </a:r>
                    </a:p>
                  </a:txBody>
                  <a:tcPr marL="101600" marR="101600" anchor="ctr">
                    <a:solidFill>
                      <a:srgbClr val="DAED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螢幕最長每 180 秒（3 分鐘）就會自動更新一次，可觀察畫面上的時間有沒有在動</a:t>
                      </a:r>
                    </a:p>
                  </a:txBody>
                  <a:tcPr marL="101600" marR="101600" anchor="ctr">
                    <a:solidFill>
                      <a:srgbClr val="DA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開機顯示 QR code 設定畫面？</a:t>
                      </a: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正常，每次開機都會先顯示，不理它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 3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分鐘後自動跳過</a:t>
                      </a:r>
                      <a:endParaRPr sz="1100" b="0" dirty="0">
                        <a:solidFill>
                          <a:srgbClr val="333333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101600" marR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600"/>
              </a:spcAft>
              <a:buNone/>
            </a:pPr>
            <a:r>
              <a:rPr sz="19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螢幕持續顯示錯誤訊息</a:t>
            </a:r>
          </a:p>
          <a:p>
            <a:pPr>
              <a:spcAft>
                <a:spcPts val="400"/>
              </a:spcAft>
              <a:buNone/>
            </a:pPr>
            <a:r>
              <a:rPr sz="19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依常見問題處理後仍無法上傳</a:t>
            </a:r>
          </a:p>
          <a:p>
            <a:pPr>
              <a:spcAft>
                <a:spcPts val="1600"/>
              </a:spcAft>
              <a:buNone/>
            </a:pPr>
            <a:r>
              <a:rPr sz="14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或待傳筆數持續增加超過一天</a:t>
            </a:r>
          </a:p>
          <a:p>
            <a:pPr>
              <a:spcAft>
                <a:spcPts val="400"/>
              </a:spcAft>
              <a:buNone/>
            </a:pPr>
            <a:r>
              <a:rPr sz="19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螢幕或按鍵完全沒反應</a:t>
            </a:r>
          </a:p>
          <a:p>
            <a:pPr>
              <a:spcAft>
                <a:spcPts val="1600"/>
              </a:spcAft>
              <a:buNone/>
            </a:pPr>
            <a:r>
              <a:rPr sz="1400" b="0">
                <a:solidFill>
                  <a:srgbClr val="757575"/>
                </a:solidFill>
                <a:latin typeface="微軟正黑體"/>
                <a:ea typeface="微軟正黑體"/>
                <a:cs typeface="微軟正黑體"/>
              </a:rPr>
              <a:t>     已確認電源線插好的前提下</a:t>
            </a:r>
          </a:p>
          <a:p>
            <a:pPr>
              <a:spcAft>
                <a:spcPts val="1600"/>
              </a:spcAft>
              <a:buNone/>
            </a:pPr>
            <a:r>
              <a:rPr sz="19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•  懷疑外殼、螢幕、按鍵實體損壞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微軟正黑體"/>
                <a:ea typeface="微軟正黑體"/>
                <a:cs typeface="微軟正黑體"/>
              </a:rPr>
              <a:t>這些情況請聯絡技術人員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簡報內頁">
  <a:themeElements>
    <a:clrScheme name="簡報內頁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簡報內頁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簡報內頁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1309</TotalTime>
  <Words>1055</Words>
  <Application>Microsoft Office PowerPoint</Application>
  <PresentationFormat>如螢幕大小 (4:3)</PresentationFormat>
  <Paragraphs>279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0" baseType="lpstr">
      <vt:lpstr>微軟正黑體</vt:lpstr>
      <vt:lpstr>Arial</vt:lpstr>
      <vt:lpstr>Calibri</vt:lpstr>
      <vt:lpstr>簡報內頁</vt:lpstr>
      <vt:lpstr>生理訊號中繼裝置 操作說明</vt:lpstr>
      <vt:lpstr>目錄</vt:lpstr>
      <vt:lpstr>一　認識裝置</vt:lpstr>
      <vt:lpstr>這台裝置能做什麼</vt:lpstr>
      <vt:lpstr>支援的量測裝置</vt:lpstr>
      <vt:lpstr>裝置外觀</vt:lpstr>
      <vt:lpstr>二　設定裝置</vt:lpstr>
      <vt:lpstr>何時需要設定</vt:lpstr>
      <vt:lpstr>設定五步驟</vt:lpstr>
      <vt:lpstr>設定畫面與掃碼（對應步驟 2-3）</vt:lpstr>
      <vt:lpstr>設定表單欄位（對應步驟 4）</vt:lpstr>
      <vt:lpstr>三　日常使用</vt:lpstr>
      <vt:lpstr>全自動三步驟</vt:lpstr>
      <vt:lpstr>螢幕四種畫面總覽</vt:lpstr>
      <vt:lpstr>日常量測</vt:lpstr>
      <vt:lpstr>額溫槍 FORA IR42｜藍牙使用須知</vt:lpstr>
      <vt:lpstr>血氧計 FORA O2｜藍牙使用須知</vt:lpstr>
      <vt:lpstr>血壓計 FORA D40｜藍牙使用須知</vt:lpstr>
      <vt:lpstr>六合一 FORA MD6｜藍牙使用須知</vt:lpstr>
      <vt:lpstr>RIGHTEST GM700SB｜藍牙使用須知</vt:lpstr>
      <vt:lpstr>上傳畫面(長按中鍵嘗試重新上傳)</vt:lpstr>
      <vt:lpstr>紀錄頁面（右鍵）</vt:lpstr>
      <vt:lpstr>四　疑難排解</vt:lpstr>
      <vt:lpstr>資料安全性</vt:lpstr>
      <vt:lpstr>常見問題</vt:lpstr>
      <vt:lpstr>這些情況請聯絡技術人員</vt:lpstr>
    </vt:vector>
  </TitlesOfParts>
  <Company>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ITRI投影片範本B</dc:title>
  <dc:creator>ITRI</dc:creator>
  <cp:keywords>2008NewCIS</cp:keywords>
  <cp:lastModifiedBy>詹文孔</cp:lastModifiedBy>
  <cp:revision>115</cp:revision>
  <dcterms:created xsi:type="dcterms:W3CDTF">2008-05-08T04:38:45Z</dcterms:created>
  <dcterms:modified xsi:type="dcterms:W3CDTF">2026-09-01T06:15:19Z</dcterms:modified>
</cp:coreProperties>
</file>
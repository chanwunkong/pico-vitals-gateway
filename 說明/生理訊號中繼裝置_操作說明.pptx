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B3"/>
    <a:srgbClr val="5FB990"/>
    <a:srgbClr val="87CAAC"/>
    <a:srgbClr val="12B3C4"/>
    <a:srgbClr val="FF6600"/>
    <a:srgbClr val="FF0000"/>
    <a:srgbClr val="28AECF"/>
    <a:srgbClr val="13C3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13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98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98" d="100"/>
          <a:sy n="98" d="100"/>
        </p:scale>
        <p:origin x="-3648" y="-102"/>
      </p:cViewPr>
      <p:guideLst>
        <p:guide orient="horz" pos="2880"/>
        <p:guide pos="2160"/>
      </p:guideLst>
    </p:cSldViewPr>
  </p:notesViewPr>
  <p:gridSpacing cx="45005" cy="45005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6650701-39C2-4C39-B774-AC0ACA9B57F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115972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35D6E0B5-C9D1-4321-9F3E-3F5A2FCA6E31}" type="datetimeFigureOut">
              <a:rPr lang="zh-TW" altLang="en-US"/>
              <a:pPr>
                <a:defRPr/>
              </a:pPr>
              <a:t>2024/4/1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 smtClean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 smtClean="0"/>
              <a:t>按一下以編輯母片文字樣式</a:t>
            </a:r>
          </a:p>
          <a:p>
            <a:pPr lvl="1"/>
            <a:r>
              <a:rPr lang="zh-TW" altLang="en-US" noProof="0" smtClean="0"/>
              <a:t>第二層</a:t>
            </a:r>
          </a:p>
          <a:p>
            <a:pPr lvl="2"/>
            <a:r>
              <a:rPr lang="zh-TW" altLang="en-US" noProof="0" smtClean="0"/>
              <a:t>第三層</a:t>
            </a:r>
          </a:p>
          <a:p>
            <a:pPr lvl="3"/>
            <a:r>
              <a:rPr lang="zh-TW" altLang="en-US" noProof="0" smtClean="0"/>
              <a:t>第四層</a:t>
            </a:r>
          </a:p>
          <a:p>
            <a:pPr lvl="4"/>
            <a:r>
              <a:rPr lang="zh-TW" altLang="en-US" noProof="0" smtClean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96D86CCB-8F76-4AE6-907E-95309338C679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036899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 smtClean="0"/>
          </a:p>
        </p:txBody>
      </p:sp>
      <p:sp>
        <p:nvSpPr>
          <p:cNvPr id="30741" name="Rectangle 21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546140" y="2584703"/>
            <a:ext cx="6596065" cy="1219201"/>
          </a:xfrm>
        </p:spPr>
        <p:txBody>
          <a:bodyPr anchor="t" anchorCtr="0"/>
          <a:lstStyle>
            <a:lvl1pPr>
              <a:defRPr sz="4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 smtClean="0"/>
              <a:t>簡報標題</a:t>
            </a:r>
            <a:endParaRPr lang="zh-TW" altLang="en-US" dirty="0"/>
          </a:p>
        </p:txBody>
      </p:sp>
      <p:sp>
        <p:nvSpPr>
          <p:cNvPr id="30742" name="Rectangle 22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546141" y="5059680"/>
            <a:ext cx="6770872" cy="755904"/>
          </a:xfrm>
        </p:spPr>
        <p:txBody>
          <a:bodyPr anchor="b" anchorCtr="0"/>
          <a:lstStyle>
            <a:lvl1pPr marL="0" indent="0" eaLnBrk="1" hangingPunct="1">
              <a:lnSpc>
                <a:spcPct val="80000"/>
              </a:lnSpc>
              <a:spcBef>
                <a:spcPct val="0"/>
              </a:spcBef>
              <a:buFontTx/>
              <a:buNone/>
              <a:defRPr sz="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eaLnBrk="1" hangingPunct="1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zh-TW" altLang="en-US" sz="2000" dirty="0" smtClean="0"/>
              <a:t>簡報單位 簡報人名稱</a:t>
            </a:r>
            <a:r>
              <a:rPr lang="en-US" altLang="zh-TW" sz="2000" dirty="0" smtClean="0"/>
              <a:t> </a:t>
            </a:r>
            <a:r>
              <a:rPr lang="zh-TW" altLang="en-US" sz="2000" dirty="0" smtClean="0"/>
              <a:t>職稱</a:t>
            </a:r>
            <a:endParaRPr lang="en-US" altLang="zh-TW" sz="20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9" name="文字版面配置區 8"/>
          <p:cNvSpPr>
            <a:spLocks noGrp="1"/>
          </p:cNvSpPr>
          <p:nvPr>
            <p:ph type="body" sz="quarter" idx="12" hasCustomPrompt="1"/>
          </p:nvPr>
        </p:nvSpPr>
        <p:spPr>
          <a:xfrm>
            <a:off x="546140" y="5902262"/>
            <a:ext cx="2788603" cy="432303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zh-TW" altLang="en-US" dirty="0" smtClean="0"/>
              <a:t>簡報日期</a:t>
            </a:r>
            <a:endParaRPr lang="zh-TW" altLang="en-US" dirty="0"/>
          </a:p>
        </p:txBody>
      </p:sp>
      <p:pic>
        <p:nvPicPr>
          <p:cNvPr id="12" name="Picture 28" descr="itri_CEL_A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27" y="354013"/>
            <a:ext cx="2652713" cy="61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 smtClean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 smtClean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  <a:endParaRPr lang="zh-TW" altLang="en-US" sz="1000" dirty="0" smtClean="0">
              <a:solidFill>
                <a:schemeClr val="bg1"/>
              </a:solidFill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33254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40782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6126480" cy="4757737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5" name="圖片版面配置區 2"/>
          <p:cNvSpPr>
            <a:spLocks noGrp="1"/>
          </p:cNvSpPr>
          <p:nvPr>
            <p:ph type="pic" idx="11"/>
          </p:nvPr>
        </p:nvSpPr>
        <p:spPr>
          <a:xfrm>
            <a:off x="6721574" y="1439863"/>
            <a:ext cx="2098576" cy="47577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1697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8360228" cy="3184388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>
          <a:xfrm>
            <a:off x="450849" y="316992"/>
            <a:ext cx="8366579" cy="889508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6" name="圖片版面配置區 2"/>
          <p:cNvSpPr>
            <a:spLocks noGrp="1"/>
          </p:cNvSpPr>
          <p:nvPr>
            <p:ph type="pic" idx="11"/>
          </p:nvPr>
        </p:nvSpPr>
        <p:spPr>
          <a:xfrm>
            <a:off x="457200" y="4725145"/>
            <a:ext cx="8360228" cy="15841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311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/>
          <p:cNvSpPr>
            <a:spLocks noGrp="1"/>
          </p:cNvSpPr>
          <p:nvPr>
            <p:ph type="ctrTitle"/>
          </p:nvPr>
        </p:nvSpPr>
        <p:spPr>
          <a:xfrm>
            <a:off x="685800" y="2564904"/>
            <a:ext cx="7772400" cy="1035546"/>
          </a:xfrm>
        </p:spPr>
        <p:txBody>
          <a:bodyPr anchor="t" anchorCtr="0">
            <a:noAutofit/>
          </a:bodyPr>
          <a:lstStyle>
            <a:lvl1pPr algn="ctr">
              <a:defRPr/>
            </a:lvl1pPr>
          </a:lstStyle>
          <a:p>
            <a:r>
              <a:rPr lang="zh-TW" altLang="en-US" dirty="0" smtClean="0"/>
              <a:t>按一下以編輯母片標題樣式</a:t>
            </a:r>
            <a:endParaRPr lang="zh-TW" altLang="en-US" dirty="0"/>
          </a:p>
        </p:txBody>
      </p:sp>
      <p:sp>
        <p:nvSpPr>
          <p:cNvPr id="10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11" name="投影片編號版面配置區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66617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9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10" name="投影片編號版面配置區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7612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542733"/>
            <a:ext cx="4105275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14875" y="1542733"/>
            <a:ext cx="4106863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85454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20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 smtClean="0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4200109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4" name="標題 7"/>
          <p:cNvSpPr>
            <a:spLocks noGrp="1"/>
          </p:cNvSpPr>
          <p:nvPr>
            <p:ph type="title"/>
          </p:nvPr>
        </p:nvSpPr>
        <p:spPr>
          <a:xfrm>
            <a:off x="450850" y="316992"/>
            <a:ext cx="8369300" cy="889508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720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投影片編號版面配置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25513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311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 smtClean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8" name="投影片編號版面配置區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02855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51948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729413" y="313944"/>
            <a:ext cx="2092325" cy="5864352"/>
          </a:xfrm>
        </p:spPr>
        <p:txBody>
          <a:bodyPr vert="eaVert"/>
          <a:lstStyle>
            <a:lvl1pPr algn="ctr">
              <a:defRPr/>
            </a:lvl1pPr>
          </a:lstStyle>
          <a:p>
            <a:r>
              <a:rPr lang="zh-TW" altLang="en-US" dirty="0" smtClean="0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0850" y="313944"/>
            <a:ext cx="6126163" cy="5864352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65464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 smtClean="0"/>
          </a:p>
        </p:txBody>
      </p:sp>
      <p:sp>
        <p:nvSpPr>
          <p:cNvPr id="1027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 smtClean="0"/>
              <a:t>按一下以編輯母片標題樣式</a:t>
            </a:r>
          </a:p>
        </p:txBody>
      </p:sp>
      <p:sp>
        <p:nvSpPr>
          <p:cNvPr id="1028" name="Rectangle 4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439863"/>
            <a:ext cx="8364538" cy="4757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 smtClean="0"/>
              <a:t>按一下以編輯母片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</a:p>
        </p:txBody>
      </p:sp>
      <p:sp>
        <p:nvSpPr>
          <p:cNvPr id="29743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572500" y="6619875"/>
            <a:ext cx="5715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fontAlgn="ctr" hangingPunct="1">
              <a:defRPr sz="1200">
                <a:solidFill>
                  <a:schemeClr val="bg1"/>
                </a:solidFill>
                <a:ea typeface="微軟正黑體" panose="020B0604030504040204" pitchFamily="34" charset="-120"/>
              </a:defRPr>
            </a:lvl1pPr>
          </a:lstStyle>
          <a:p>
            <a:pPr>
              <a:defRPr/>
            </a:pPr>
            <a:fld id="{1A71FFAD-F905-4792-971B-681FA4F61CA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  <p:pic>
        <p:nvPicPr>
          <p:cNvPr id="1032" name="Picture 49" descr="itri_CEL_A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3838" y="6278563"/>
            <a:ext cx="1250950" cy="290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 smtClean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 smtClean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  <a:endParaRPr lang="zh-TW" altLang="en-US" sz="1000" dirty="0" smtClean="0">
              <a:solidFill>
                <a:schemeClr val="bg1"/>
              </a:solidFill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5" r:id="rId2"/>
    <p:sldLayoutId id="2147483916" r:id="rId3"/>
    <p:sldLayoutId id="2147483917" r:id="rId4"/>
    <p:sldLayoutId id="2147483903" r:id="rId5"/>
    <p:sldLayoutId id="2147483904" r:id="rId6"/>
    <p:sldLayoutId id="2147483905" r:id="rId7"/>
    <p:sldLayoutId id="2147483906" r:id="rId8"/>
    <p:sldLayoutId id="2147483908" r:id="rId9"/>
    <p:sldLayoutId id="2147483914" r:id="rId10"/>
    <p:sldLayoutId id="2147483909" r:id="rId11"/>
    <p:sldLayoutId id="2147483910" r:id="rId12"/>
    <p:sldLayoutId id="2147483911" r:id="rId13"/>
    <p:sldLayoutId id="2147483912" r:id="rId14"/>
  </p:sldLayoutIdLst>
  <p:hf hdr="0" ft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36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生理訊號中繼裝置 操作說明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個案管理師／護理師版　完整操作手冊　｜　2026-08-26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這台裝置能幫你做什麼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支援的量測裝置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認識你的裝置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日常使用：三個步驟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螢幕怎麼看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三顆按鍵功能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什麼時候需要重新設定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首次設定／更換 Wi-Fi 環境步驟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設定頁面欄位說明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不小心進入設定模式怎麼辦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資料安全性：量到的數值不會不見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常見問題 Q&amp;A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這些情況請聯絡技術人員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個案在家中或床邊用血壓計、血糖機、血氧計、額溫槍量測後，數值自動傳到後端系統</a:t>
            </a:r>
          </a:p>
          <a:p>
            <a:pPr/>
            <a:r>
              <a:rPr sz="20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個管師／護理師不需要手動抄寫、拍照存證或打電話請個案報數字</a:t>
            </a:r>
          </a:p>
          <a:p>
            <a:pPr/>
            <a:r>
              <a:rPr sz="20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裝置全天候通電運作，量到但還沒上傳成功的資料會先存在裝置裡；就算中途斷電，資料也不會不見，恢復供電後會自動補傳</a:t>
            </a:r>
          </a:p>
          <a:p>
            <a:pPr/>
            <a:r>
              <a:rPr sz="20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平時完全不需要操作裝置本身；只有「第一次安裝」或「個案更換居住地點／Wi-Fi」時，才需要照本手冊做一次設定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這台裝置能幫你做什麼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支援的量測裝置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 wrap="square"/>
          <a:lstStyle/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FORA IR42 額溫槍：體溫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FORA O2 血氧計：血氧 SpO2／脈搏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FORA D40 血壓血糖二合一：血壓／脈搏／血糖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FORA MD6 六合一測試儀：血糖／HCT／酮體／尿酸／膽固醇／血紅素（估算）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量測裝置藍牙需保持開啟，並在中繼裝置附近量測；中繼裝置會自動辨識機型並接收，不需要手動配對</a:t>
            </a:r>
          </a:p>
        </p:txBody>
      </p:sp>
      <p:pic>
        <p:nvPicPr>
          <p:cNvPr id="5" name="Picture 4" descr="devices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66437"/>
            <a:ext cx="5120640" cy="16679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認識你的裝置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 wrap="square"/>
          <a:lstStyle/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外殼包住裝置上／下／左／右／背面，只露出正面螢幕與按鍵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電子紙螢幕：顯示個案編號、目前狀態與各項最新讀值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KEY0／KEY1／KEY2：螢幕上方三顆按鍵，日常操作只會用到這三顆</a:t>
            </a:r>
          </a:p>
        </p:txBody>
      </p:sp>
      <p:pic>
        <p:nvPicPr>
          <p:cNvPr id="5" name="Picture 4" descr="device_diagram_ca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475774"/>
            <a:ext cx="5120640" cy="34492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日常使用：三個步驟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 wrap="square"/>
          <a:lstStyle/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個案／照護者用量測裝置測量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中繼裝置自動連線接收數值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閒置數秒後自動上傳雲端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個管師／護理師全程不需操作中繼裝置——靠近感應、自動收值、自動上傳</a:t>
            </a:r>
          </a:p>
        </p:txBody>
      </p:sp>
      <p:pic>
        <p:nvPicPr>
          <p:cNvPr id="5" name="Picture 4" descr="flow_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455411"/>
            <a:ext cx="5120640" cy="14899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螢幕怎麼看</a:t>
            </a:r>
          </a:p>
        </p:txBody>
      </p:sp>
      <p:pic>
        <p:nvPicPr>
          <p:cNvPr id="3" name="Picture 2" descr="screen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3428"/>
            <a:ext cx="8229600" cy="49941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三顆按鍵功能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 wrap="square"/>
          <a:lstStyle/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KEY0：長按 3 秒，進入設定模式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KEY1：按一下，手動觸發上傳並強制重新校時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KEY2：按一下，顯示最近紀錄 8 秒</a:t>
            </a:r>
          </a:p>
          <a:p>
            <a:pPr>
              <a:buNone/>
            </a:pPr>
            <a:r>
              <a:rPr sz="14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平時不需要按任何按鍵，裝置會自動運作——這三顆鍵是提供手動確認／查詢時使用的</a:t>
            </a:r>
          </a:p>
        </p:txBody>
      </p:sp>
      <p:pic>
        <p:nvPicPr>
          <p:cNvPr id="5" name="Picture 4" descr="button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85833"/>
            <a:ext cx="5120640" cy="20291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裝置第一次啟用、還沒設定過 Wi-Fi 與個案資料時</a:t>
            </a:r>
          </a:p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個案搬家、更換照護地點、原本連線的 Wi-Fi 環境改變時</a:t>
            </a:r>
          </a:p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個案編號、個管師聯絡資訊需要更新時</a:t>
            </a:r>
          </a:p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日常的血壓／血糖／血氧／體溫量測完全不需要用到接下來的設定流程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什麼時候需要重新設定？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首次設定／更換 Wi-Fi 環境步驟</a:t>
            </a:r>
          </a:p>
        </p:txBody>
      </p:sp>
      <p:pic>
        <p:nvPicPr>
          <p:cNvPr id="3" name="Picture 2" descr="setup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98" y="1234440"/>
            <a:ext cx="8189804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設定頁面欄位說明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8521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欄位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說明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目標 Wi-Fi 帳號密碼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個案居住地點實際要連上網路的 Wi-Fi。跟裝置自己開的設定用熱點是兩個完全不同的網路，不要搞混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個案姓名</a:t>
                      </a:r>
                    </a:p>
                  </a:txBody>
                  <a:tcPr anchor="ctr" marL="101600" marR="101600">
                    <a:solidFill>
                      <a:srgbClr val="DA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只記錄在後端資料裡，不會顯示在裝置螢幕上</a:t>
                      </a:r>
                    </a:p>
                  </a:txBody>
                  <a:tcPr anchor="ctr" marL="101600" marR="101600">
                    <a:solidFill>
                      <a:srgbClr val="DAED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個案編號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會顯示在裝置螢幕左上角，方便現場核對這是哪一位個案的裝置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個管師資訊</a:t>
                      </a:r>
                    </a:p>
                  </a:txBody>
                  <a:tcPr anchor="ctr" marL="101600" marR="101600">
                    <a:solidFill>
                      <a:srgbClr val="DA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記錄目前負責這台裝置／個案的個管師聯絡方式</a:t>
                      </a:r>
                    </a:p>
                  </a:txBody>
                  <a:tcPr anchor="ctr" marL="101600" marR="101600">
                    <a:solidFill>
                      <a:srgbClr val="DAED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上傳伺服器網址／認證金鑰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技術設定欄位，一般情況維持空白即可；留空＝沿用目前設定，不會被清空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重新設定時，網頁表單會自動帶入目前已存的值，不用整份重填一次。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在設定畫面中，按住 KEY0 一秒，就會直接取消、退回量測模式，不會儲存任何變更</a:t>
            </a:r>
          </a:p>
          <a:p>
            <a:pPr/>
            <a:r>
              <a:rPr sz="20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這個取消鍵刻意設計成「按住 1 秒」而不是「輕輕碰一下」，是為了避免手機正在填表單時被誤觸、導致熱點斷線、表單內容整個消失</a:t>
            </a:r>
          </a:p>
          <a:p>
            <a:pPr/>
            <a:r>
              <a:rPr sz="20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忘記設定用熱點的連線密碼？密碼是固定值 02750963，也會直接顯示在裝置螢幕上，不需要另外記錄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不小心進入設定模式，或不想更動設定？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每一筆量測資料，收到當下就會存進裝置裡（斷電也不會遺失）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WiFi 上傳失敗（訊號不好、路由器重開機等）會自動排隊重試，不需要人工處理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裝置也會保留最近一段時間已成功上傳的紀錄，按 KEY2 即可查詢</a:t>
            </a:r>
          </a:p>
          <a:p>
            <a:pPr/>
            <a:r>
              <a:rPr sz="18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提醒：本系統目前仍在測試驗證階段（尚未完成長時間耐用性測試），建議導入初期仍搭配既有的個案紀錄方式作為備援；如遇裝置長時間無回應或螢幕停在錯誤畫面，請通報技術人員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資料安全性：量到的數值不會不見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常見問題 Q&amp;A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57784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問題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說明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螢幕數值一直沒更新？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確認量測裝置藍牙已開啟、電池足夠，並在中繼裝置收訊範圍內量測。同一台量測裝置量測後有冷卻時間（額溫槍約1分鐘、血壓計約4分鐘）才會再次連線，這段期間畫面顯示舊數值是正常現象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螢幕顯示「unsynced」是什麼意思？</a:t>
                      </a:r>
                    </a:p>
                  </a:txBody>
                  <a:tcPr anchor="ctr" marL="101600" marR="101600">
                    <a:solidFill>
                      <a:srgbClr val="DA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代表裝置還沒跟網路對時成功，時間會改用「幾分鐘前」表示。只要 WiFi 能連上，裝置每 5 分鐘會自動重試對時，不需要手動處理</a:t>
                      </a:r>
                    </a:p>
                  </a:txBody>
                  <a:tcPr anchor="ctr" marL="101600" marR="101600">
                    <a:solidFill>
                      <a:srgbClr val="DAED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待傳筆數（Pending）一直增加？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通常是 WiFi 連不上（訊號、密碼、路由器問題）。可按 KEY1 手動觸發一次上傳並觀察結果；持續失敗建議透過設定模式確認 Wi-Fi 密碼是否正確</a:t>
                      </a:r>
                    </a:p>
                  </a:txBody>
                  <a:tcPr anchor="ctr" marL="101600" marR="1016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螢幕停住不動，像當機？</a:t>
                      </a:r>
                    </a:p>
                  </a:txBody>
                  <a:tcPr anchor="ctr" marL="101600" marR="101600">
                    <a:solidFill>
                      <a:srgbClr val="DA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電子紙更新較慢、平時不頻繁刷新是正常現象。可觀察「Scanning」旁的時間戳是否還在前進，藉此分辨「安靜沒有新資料」還是真的當機</a:t>
                      </a:r>
                    </a:p>
                  </a:txBody>
                  <a:tcPr anchor="ctr" marL="101600" marR="101600">
                    <a:solidFill>
                      <a:srgbClr val="DAED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螢幕持續顯示英文錯誤訊息</a:t>
            </a:r>
          </a:p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依「常見問題」處理過仍無法上傳、或待傳筆數持續增加超過一天</a:t>
            </a:r>
          </a:p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螢幕完全沒有任何反應，且已確認電源線有確實插好</a:t>
            </a:r>
          </a:p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需要更換上傳伺服器網址、認證金鑰等技術設定</a:t>
            </a:r>
          </a:p>
          <a:p>
            <a:pPr/>
            <a:r>
              <a:rPr sz="22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懷疑裝置外殼、螢幕、按鍵有實體損壞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這些情況請聯絡技術人員，不要自行拆裝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感謝您協助個案穩定使用本裝置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/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技術支援窗口：＿＿＿＿＿＿＿＿＿＿＿＿＿＿＿＿</a:t>
            </a:r>
          </a:p>
          <a:p>
            <a:pPr/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系統／後端問題窗口：＿＿＿＿＿＿＿＿＿＿＿＿＿＿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簡報內頁">
  <a:themeElements>
    <a:clrScheme name="簡報內頁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簡報內頁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lnDef>
  </a:objectDefaults>
  <a:extraClrSchemeLst>
    <a:extraClrScheme>
      <a:clrScheme name="簡報內頁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1252</TotalTime>
  <Words>2</Words>
  <Application>Microsoft Office PowerPoint</Application>
  <PresentationFormat>如螢幕大小 (4:3)</PresentationFormat>
  <Paragraphs>2</Paragraphs>
  <Slides>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微軟正黑體</vt:lpstr>
      <vt:lpstr>新細明體</vt:lpstr>
      <vt:lpstr>Arial</vt:lpstr>
      <vt:lpstr>Calibri</vt:lpstr>
      <vt:lpstr>簡報內頁</vt:lpstr>
      <vt:lpstr>PowerPoint 簡報</vt:lpstr>
      <vt:lpstr>PowerPoint 簡報</vt:lpstr>
    </vt:vector>
  </TitlesOfParts>
  <Company>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ITRI投影片範本B</dc:title>
  <dc:creator>ITRI</dc:creator>
  <cp:keywords>2008NewCIS</cp:keywords>
  <cp:lastModifiedBy>李沂霏</cp:lastModifiedBy>
  <cp:revision>104</cp:revision>
  <dcterms:created xsi:type="dcterms:W3CDTF">2008-05-08T04:38:45Z</dcterms:created>
  <dcterms:modified xsi:type="dcterms:W3CDTF">2024-04-01T06:55:17Z</dcterms:modified>
</cp:coreProperties>
</file>